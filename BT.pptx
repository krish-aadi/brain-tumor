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60" r:id="rId2"/>
    <p:sldId id="975" r:id="rId3"/>
    <p:sldId id="965" r:id="rId4"/>
    <p:sldId id="976" r:id="rId5"/>
    <p:sldId id="977" r:id="rId6"/>
    <p:sldId id="978" r:id="rId7"/>
    <p:sldId id="979" r:id="rId8"/>
    <p:sldId id="981" r:id="rId9"/>
    <p:sldId id="982" r:id="rId10"/>
    <p:sldId id="983" r:id="rId11"/>
    <p:sldId id="984" r:id="rId12"/>
    <p:sldId id="985" r:id="rId13"/>
    <p:sldId id="9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57" autoAdjust="0"/>
    <p:restoredTop sz="94660"/>
  </p:normalViewPr>
  <p:slideViewPr>
    <p:cSldViewPr snapToGrid="0">
      <p:cViewPr varScale="1">
        <p:scale>
          <a:sx n="72" d="100"/>
          <a:sy n="72" d="100"/>
        </p:scale>
        <p:origin x="963" y="3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3C8053-C215-4F1B-B034-F2CEC3A12651}" type="datetimeFigureOut">
              <a:rPr lang="en-IN" smtClean="0"/>
              <a:pPr/>
              <a:t>04-08-2026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86552-9209-4EF2-8CFF-E55CDE485F81}" type="slidenum">
              <a:rPr lang="en-IN" smtClean="0"/>
              <a:pPr/>
              <a:t>‹#›</a:t>
            </a:fld>
            <a:endParaRPr lang="en-IN"/>
          </a:p>
        </p:txBody>
      </p:sp>
    </p:spTree>
    <p:extLst>
      <p:ext uri="{BB962C8B-B14F-4D97-AF65-F5344CB8AC3E}">
        <p14:creationId xmlns:p14="http://schemas.microsoft.com/office/powerpoint/2010/main" val="117784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Google Shape;81;p1:notes">
            <a:extLst>
              <a:ext uri="{FF2B5EF4-FFF2-40B4-BE49-F238E27FC236}">
                <a16:creationId xmlns:a16="http://schemas.microsoft.com/office/drawing/2014/main" id="{6239290D-3E94-FAD0-7910-CDA7DFA9C499}"/>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eaLnBrk="1" hangingPunct="1">
              <a:spcBef>
                <a:spcPct val="0"/>
              </a:spcBef>
            </a:pPr>
            <a:endParaRPr lang="en-US" altLang="en-US" dirty="0"/>
          </a:p>
        </p:txBody>
      </p:sp>
      <p:sp>
        <p:nvSpPr>
          <p:cNvPr id="16387" name="Google Shape;82;p1:notes">
            <a:extLst>
              <a:ext uri="{FF2B5EF4-FFF2-40B4-BE49-F238E27FC236}">
                <a16:creationId xmlns:a16="http://schemas.microsoft.com/office/drawing/2014/main" id="{1D7A565E-33A6-6574-9D57-CFC2299100B1}"/>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6096000 w 120000"/>
              <a:gd name="T3" fmla="*/ 0 h 120000"/>
              <a:gd name="T4" fmla="*/ 6096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08FC-9BBD-1E6A-40F3-B9D9FF98EECA}"/>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A50DAE66-12A9-BB56-6D9D-F9B392F5AF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2F1F305-C7CD-42EA-9775-3D213ED49E41}" type="slidenum">
              <a:rPr lang="en-US" altLang="en-US" sz="1200" b="0">
                <a:latin typeface="Times New Roman" panose="02020603050405020304" pitchFamily="18" charset="0"/>
              </a:rPr>
              <a:pPr/>
              <a:t>3</a:t>
            </a:fld>
            <a:endParaRPr lang="en-US" altLang="en-US" sz="1200" b="0">
              <a:latin typeface="Times New Roman" panose="02020603050405020304" pitchFamily="18" charset="0"/>
            </a:endParaRPr>
          </a:p>
        </p:txBody>
      </p:sp>
      <p:sp>
        <p:nvSpPr>
          <p:cNvPr id="28675" name="Rectangle 2">
            <a:extLst>
              <a:ext uri="{FF2B5EF4-FFF2-40B4-BE49-F238E27FC236}">
                <a16:creationId xmlns:a16="http://schemas.microsoft.com/office/drawing/2014/main" id="{5F7F69CF-6EC9-37B2-0026-B69762AE626D}"/>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3862B4E2-0EF5-4222-485E-7893ECE09C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n-US"/>
          </a:p>
        </p:txBody>
      </p:sp>
    </p:spTree>
    <p:extLst>
      <p:ext uri="{BB962C8B-B14F-4D97-AF65-F5344CB8AC3E}">
        <p14:creationId xmlns:p14="http://schemas.microsoft.com/office/powerpoint/2010/main" val="2092253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914400" y="2130429"/>
            <a:ext cx="10363200" cy="1470025"/>
          </a:xfrm>
          <a:prstGeom prst="rect">
            <a:avLst/>
          </a:prstGeom>
          <a:noFill/>
          <a:ln>
            <a:noFill/>
          </a:ln>
        </p:spPr>
        <p:txBody>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828800" y="3886200"/>
            <a:ext cx="8534400" cy="1752600"/>
          </a:xfrm>
          <a:prstGeom prst="rect">
            <a:avLst/>
          </a:prstGeom>
          <a:noFill/>
          <a:ln>
            <a:noFill/>
          </a:ln>
        </p:spPr>
        <p:txBody>
          <a:bodyPr/>
          <a:lstStyle>
            <a:lvl1pPr lvl="0" algn="ctr">
              <a:spcBef>
                <a:spcPts val="672"/>
              </a:spcBef>
              <a:spcAft>
                <a:spcPts val="0"/>
              </a:spcAft>
              <a:buClr>
                <a:srgbClr val="888888"/>
              </a:buClr>
              <a:buSzPts val="3360"/>
              <a:buNone/>
              <a:defRPr>
                <a:solidFill>
                  <a:srgbClr val="888888"/>
                </a:solidFill>
              </a:defRPr>
            </a:lvl1pPr>
            <a:lvl2pPr lvl="1" algn="ctr">
              <a:spcBef>
                <a:spcPts val="600"/>
              </a:spcBef>
              <a:spcAft>
                <a:spcPts val="0"/>
              </a:spcAft>
              <a:buClr>
                <a:srgbClr val="888888"/>
              </a:buClr>
              <a:buSzPts val="3000"/>
              <a:buNone/>
              <a:defRPr>
                <a:solidFill>
                  <a:srgbClr val="888888"/>
                </a:solidFill>
              </a:defRPr>
            </a:lvl2pPr>
            <a:lvl3pPr lvl="2" algn="ctr">
              <a:spcBef>
                <a:spcPts val="504"/>
              </a:spcBef>
              <a:spcAft>
                <a:spcPts val="0"/>
              </a:spcAft>
              <a:buClr>
                <a:srgbClr val="888888"/>
              </a:buClr>
              <a:buSzPts val="2520"/>
              <a:buNone/>
              <a:defRPr>
                <a:solidFill>
                  <a:srgbClr val="888888"/>
                </a:solidFill>
              </a:defRPr>
            </a:lvl3pPr>
            <a:lvl4pPr lvl="3" algn="ctr">
              <a:spcBef>
                <a:spcPts val="432"/>
              </a:spcBef>
              <a:spcAft>
                <a:spcPts val="0"/>
              </a:spcAft>
              <a:buClr>
                <a:srgbClr val="888888"/>
              </a:buClr>
              <a:buSzPts val="2160"/>
              <a:buNone/>
              <a:defRPr>
                <a:solidFill>
                  <a:srgbClr val="888888"/>
                </a:solidFill>
              </a:defRPr>
            </a:lvl4pPr>
            <a:lvl5pPr lvl="4" algn="ctr">
              <a:spcBef>
                <a:spcPts val="432"/>
              </a:spcBef>
              <a:spcAft>
                <a:spcPts val="0"/>
              </a:spcAft>
              <a:buClr>
                <a:srgbClr val="888888"/>
              </a:buClr>
              <a:buSzPts val="2160"/>
              <a:buNone/>
              <a:defRPr>
                <a:solidFill>
                  <a:srgbClr val="888888"/>
                </a:solidFill>
              </a:defRPr>
            </a:lvl5pPr>
            <a:lvl6pPr lvl="5" algn="ctr">
              <a:spcBef>
                <a:spcPts val="432"/>
              </a:spcBef>
              <a:spcAft>
                <a:spcPts val="0"/>
              </a:spcAft>
              <a:buClr>
                <a:srgbClr val="888888"/>
              </a:buClr>
              <a:buSzPts val="2160"/>
              <a:buNone/>
              <a:defRPr>
                <a:solidFill>
                  <a:srgbClr val="888888"/>
                </a:solidFill>
              </a:defRPr>
            </a:lvl6pPr>
            <a:lvl7pPr lvl="6" algn="ctr">
              <a:spcBef>
                <a:spcPts val="432"/>
              </a:spcBef>
              <a:spcAft>
                <a:spcPts val="0"/>
              </a:spcAft>
              <a:buClr>
                <a:srgbClr val="888888"/>
              </a:buClr>
              <a:buSzPts val="2160"/>
              <a:buNone/>
              <a:defRPr>
                <a:solidFill>
                  <a:srgbClr val="888888"/>
                </a:solidFill>
              </a:defRPr>
            </a:lvl7pPr>
            <a:lvl8pPr lvl="7" algn="ctr">
              <a:spcBef>
                <a:spcPts val="432"/>
              </a:spcBef>
              <a:spcAft>
                <a:spcPts val="0"/>
              </a:spcAft>
              <a:buClr>
                <a:srgbClr val="888888"/>
              </a:buClr>
              <a:buSzPts val="2160"/>
              <a:buNone/>
              <a:defRPr>
                <a:solidFill>
                  <a:srgbClr val="888888"/>
                </a:solidFill>
              </a:defRPr>
            </a:lvl8pPr>
            <a:lvl9pPr lvl="8" algn="ctr">
              <a:spcBef>
                <a:spcPts val="432"/>
              </a:spcBef>
              <a:spcAft>
                <a:spcPts val="0"/>
              </a:spcAft>
              <a:buClr>
                <a:srgbClr val="888888"/>
              </a:buClr>
              <a:buSzPts val="2160"/>
              <a:buNone/>
              <a:defRPr>
                <a:solidFill>
                  <a:srgbClr val="888888"/>
                </a:solidFill>
              </a:defRPr>
            </a:lvl9pPr>
          </a:lstStyle>
          <a:p>
            <a:endParaRPr/>
          </a:p>
        </p:txBody>
      </p:sp>
      <p:sp>
        <p:nvSpPr>
          <p:cNvPr id="2" name="Google Shape;14;p5">
            <a:extLst>
              <a:ext uri="{FF2B5EF4-FFF2-40B4-BE49-F238E27FC236}">
                <a16:creationId xmlns:a16="http://schemas.microsoft.com/office/drawing/2014/main" id="{DA90ECB4-5A99-18ED-D6A7-280396D61411}"/>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15;p5">
            <a:extLst>
              <a:ext uri="{FF2B5EF4-FFF2-40B4-BE49-F238E27FC236}">
                <a16:creationId xmlns:a16="http://schemas.microsoft.com/office/drawing/2014/main" id="{4E98BFAF-269A-752B-8FFA-422CB155D1FD}"/>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16;p5">
            <a:extLst>
              <a:ext uri="{FF2B5EF4-FFF2-40B4-BE49-F238E27FC236}">
                <a16:creationId xmlns:a16="http://schemas.microsoft.com/office/drawing/2014/main" id="{209C6DAC-36B0-A431-08C5-015D8A87F9A7}"/>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732BFBD3-3A94-49FD-90AB-D2D0890F1E46}" type="slidenum">
              <a:rPr lang="en-US"/>
              <a:pPr>
                <a:defRPr/>
              </a:pPr>
              <a:t>‹#›</a:t>
            </a:fld>
            <a:endParaRPr/>
          </a:p>
        </p:txBody>
      </p:sp>
    </p:spTree>
    <p:extLst>
      <p:ext uri="{BB962C8B-B14F-4D97-AF65-F5344CB8AC3E}">
        <p14:creationId xmlns:p14="http://schemas.microsoft.com/office/powerpoint/2010/main" val="3716997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963084" y="4406902"/>
            <a:ext cx="10363200" cy="1362076"/>
          </a:xfrm>
          <a:prstGeom prst="rect">
            <a:avLst/>
          </a:prstGeom>
          <a:noFill/>
          <a:ln>
            <a:noFill/>
          </a:ln>
        </p:spPr>
        <p:txBody>
          <a:bodyPr anchor="t"/>
          <a:lstStyle>
            <a:lvl1pPr lvl="0" algn="l">
              <a:spcBef>
                <a:spcPts val="0"/>
              </a:spcBef>
              <a:spcAft>
                <a:spcPts val="0"/>
              </a:spcAft>
              <a:buClr>
                <a:schemeClr val="dk1"/>
              </a:buClr>
              <a:buSzPts val="4200"/>
              <a:buFont typeface="Calibri"/>
              <a:buNone/>
              <a:defRPr sz="4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963084" y="2906713"/>
            <a:ext cx="10363200" cy="1500187"/>
          </a:xfrm>
          <a:prstGeom prst="rect">
            <a:avLst/>
          </a:prstGeom>
          <a:noFill/>
          <a:ln>
            <a:noFill/>
          </a:ln>
        </p:spPr>
        <p:txBody>
          <a:bodyPr anchor="b"/>
          <a:lstStyle>
            <a:lvl1pPr marL="457200" lvl="0" indent="-228600" algn="l">
              <a:spcBef>
                <a:spcPts val="432"/>
              </a:spcBef>
              <a:spcAft>
                <a:spcPts val="0"/>
              </a:spcAft>
              <a:buClr>
                <a:srgbClr val="888888"/>
              </a:buClr>
              <a:buSzPts val="2160"/>
              <a:buNone/>
              <a:defRPr sz="2160">
                <a:solidFill>
                  <a:srgbClr val="888888"/>
                </a:solidFill>
              </a:defRPr>
            </a:lvl1pPr>
            <a:lvl2pPr marL="914400" lvl="1" indent="-228600" algn="l">
              <a:spcBef>
                <a:spcPts val="384"/>
              </a:spcBef>
              <a:spcAft>
                <a:spcPts val="0"/>
              </a:spcAft>
              <a:buClr>
                <a:srgbClr val="888888"/>
              </a:buClr>
              <a:buSzPts val="1920"/>
              <a:buNone/>
              <a:defRPr sz="1920">
                <a:solidFill>
                  <a:srgbClr val="888888"/>
                </a:solidFill>
              </a:defRPr>
            </a:lvl2pPr>
            <a:lvl3pPr marL="1371600" lvl="2" indent="-228600" algn="l">
              <a:spcBef>
                <a:spcPts val="336"/>
              </a:spcBef>
              <a:spcAft>
                <a:spcPts val="0"/>
              </a:spcAft>
              <a:buClr>
                <a:srgbClr val="888888"/>
              </a:buClr>
              <a:buSzPts val="1680"/>
              <a:buNone/>
              <a:defRPr sz="1679">
                <a:solidFill>
                  <a:srgbClr val="888888"/>
                </a:solidFill>
              </a:defRPr>
            </a:lvl3pPr>
            <a:lvl4pPr marL="1828800" lvl="3" indent="-228600" algn="l">
              <a:spcBef>
                <a:spcPts val="288"/>
              </a:spcBef>
              <a:spcAft>
                <a:spcPts val="0"/>
              </a:spcAft>
              <a:buClr>
                <a:srgbClr val="888888"/>
              </a:buClr>
              <a:buSzPts val="1440"/>
              <a:buNone/>
              <a:defRPr sz="1440">
                <a:solidFill>
                  <a:srgbClr val="888888"/>
                </a:solidFill>
              </a:defRPr>
            </a:lvl4pPr>
            <a:lvl5pPr marL="2286000" lvl="4" indent="-228600" algn="l">
              <a:spcBef>
                <a:spcPts val="288"/>
              </a:spcBef>
              <a:spcAft>
                <a:spcPts val="0"/>
              </a:spcAft>
              <a:buClr>
                <a:srgbClr val="888888"/>
              </a:buClr>
              <a:buSzPts val="1440"/>
              <a:buNone/>
              <a:defRPr sz="1440">
                <a:solidFill>
                  <a:srgbClr val="888888"/>
                </a:solidFill>
              </a:defRPr>
            </a:lvl5pPr>
            <a:lvl6pPr marL="2743200" lvl="5" indent="-228600" algn="l">
              <a:spcBef>
                <a:spcPts val="288"/>
              </a:spcBef>
              <a:spcAft>
                <a:spcPts val="0"/>
              </a:spcAft>
              <a:buClr>
                <a:srgbClr val="888888"/>
              </a:buClr>
              <a:buSzPts val="1440"/>
              <a:buNone/>
              <a:defRPr sz="1440">
                <a:solidFill>
                  <a:srgbClr val="888888"/>
                </a:solidFill>
              </a:defRPr>
            </a:lvl6pPr>
            <a:lvl7pPr marL="3200400" lvl="6" indent="-228600" algn="l">
              <a:spcBef>
                <a:spcPts val="288"/>
              </a:spcBef>
              <a:spcAft>
                <a:spcPts val="0"/>
              </a:spcAft>
              <a:buClr>
                <a:srgbClr val="888888"/>
              </a:buClr>
              <a:buSzPts val="1440"/>
              <a:buNone/>
              <a:defRPr sz="1440">
                <a:solidFill>
                  <a:srgbClr val="888888"/>
                </a:solidFill>
              </a:defRPr>
            </a:lvl7pPr>
            <a:lvl8pPr marL="3657600" lvl="7" indent="-228600" algn="l">
              <a:spcBef>
                <a:spcPts val="288"/>
              </a:spcBef>
              <a:spcAft>
                <a:spcPts val="0"/>
              </a:spcAft>
              <a:buClr>
                <a:srgbClr val="888888"/>
              </a:buClr>
              <a:buSzPts val="1440"/>
              <a:buNone/>
              <a:defRPr sz="1440">
                <a:solidFill>
                  <a:srgbClr val="888888"/>
                </a:solidFill>
              </a:defRPr>
            </a:lvl8pPr>
            <a:lvl9pPr marL="4114800" lvl="8" indent="-228600" algn="l">
              <a:spcBef>
                <a:spcPts val="288"/>
              </a:spcBef>
              <a:spcAft>
                <a:spcPts val="0"/>
              </a:spcAft>
              <a:buClr>
                <a:srgbClr val="888888"/>
              </a:buClr>
              <a:buSzPts val="1440"/>
              <a:buNone/>
              <a:defRPr sz="1440">
                <a:solidFill>
                  <a:srgbClr val="888888"/>
                </a:solidFill>
              </a:defRPr>
            </a:lvl9pPr>
          </a:lstStyle>
          <a:p>
            <a:endParaRPr/>
          </a:p>
        </p:txBody>
      </p:sp>
      <p:sp>
        <p:nvSpPr>
          <p:cNvPr id="2" name="Google Shape;26;p7">
            <a:extLst>
              <a:ext uri="{FF2B5EF4-FFF2-40B4-BE49-F238E27FC236}">
                <a16:creationId xmlns:a16="http://schemas.microsoft.com/office/drawing/2014/main" id="{9EEDF353-4C94-1A51-9B4E-266144ABD1CB}"/>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27;p7">
            <a:extLst>
              <a:ext uri="{FF2B5EF4-FFF2-40B4-BE49-F238E27FC236}">
                <a16:creationId xmlns:a16="http://schemas.microsoft.com/office/drawing/2014/main" id="{F972E414-C475-FD52-1DCC-A4C153BCD37D}"/>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28;p7">
            <a:extLst>
              <a:ext uri="{FF2B5EF4-FFF2-40B4-BE49-F238E27FC236}">
                <a16:creationId xmlns:a16="http://schemas.microsoft.com/office/drawing/2014/main" id="{3B75AAB7-8282-D53A-6274-FFF4F87D3118}"/>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AAD0773F-BC41-4673-8580-9B75BA127ADF}" type="slidenum">
              <a:rPr lang="en-US"/>
              <a:pPr>
                <a:defRPr/>
              </a:pPr>
              <a:t>‹#›</a:t>
            </a:fld>
            <a:endParaRPr/>
          </a:p>
        </p:txBody>
      </p:sp>
    </p:spTree>
    <p:extLst>
      <p:ext uri="{BB962C8B-B14F-4D97-AF65-F5344CB8AC3E}">
        <p14:creationId xmlns:p14="http://schemas.microsoft.com/office/powerpoint/2010/main" val="2212594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09600" y="274638"/>
            <a:ext cx="10972800" cy="1143000"/>
          </a:xfrm>
          <a:prstGeom prst="rect">
            <a:avLst/>
          </a:prstGeom>
          <a:noFill/>
          <a:ln>
            <a:noFill/>
          </a:ln>
        </p:spPr>
        <p:txBody>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609600" y="1600203"/>
            <a:ext cx="5384800" cy="4525963"/>
          </a:xfrm>
          <a:prstGeom prst="rect">
            <a:avLst/>
          </a:prstGeom>
          <a:noFill/>
          <a:ln>
            <a:noFill/>
          </a:ln>
        </p:spPr>
        <p:txBody>
          <a:bodyPr/>
          <a:lstStyle>
            <a:lvl1pPr marL="457200" lvl="0" indent="-419100" algn="l">
              <a:spcBef>
                <a:spcPts val="600"/>
              </a:spcBef>
              <a:spcAft>
                <a:spcPts val="0"/>
              </a:spcAft>
              <a:buClr>
                <a:schemeClr val="dk1"/>
              </a:buClr>
              <a:buSzPts val="3000"/>
              <a:buChar char="•"/>
              <a:defRPr sz="3000"/>
            </a:lvl1pPr>
            <a:lvl2pPr marL="914400" lvl="1" indent="-388619" algn="l">
              <a:spcBef>
                <a:spcPts val="504"/>
              </a:spcBef>
              <a:spcAft>
                <a:spcPts val="0"/>
              </a:spcAft>
              <a:buClr>
                <a:schemeClr val="dk1"/>
              </a:buClr>
              <a:buSzPts val="2520"/>
              <a:buChar char="–"/>
              <a:defRPr sz="2520"/>
            </a:lvl2pPr>
            <a:lvl3pPr marL="1371600" lvl="2" indent="-365760" algn="l">
              <a:spcBef>
                <a:spcPts val="432"/>
              </a:spcBef>
              <a:spcAft>
                <a:spcPts val="0"/>
              </a:spcAft>
              <a:buClr>
                <a:schemeClr val="dk1"/>
              </a:buClr>
              <a:buSzPts val="2160"/>
              <a:buChar char="•"/>
              <a:defRPr sz="2160"/>
            </a:lvl3pPr>
            <a:lvl4pPr marL="1828800" lvl="3" indent="-350519" algn="l">
              <a:spcBef>
                <a:spcPts val="384"/>
              </a:spcBef>
              <a:spcAft>
                <a:spcPts val="0"/>
              </a:spcAft>
              <a:buClr>
                <a:schemeClr val="dk1"/>
              </a:buClr>
              <a:buSzPts val="1920"/>
              <a:buChar char="–"/>
              <a:defRPr sz="1920"/>
            </a:lvl4pPr>
            <a:lvl5pPr marL="2286000" lvl="4" indent="-350520" algn="l">
              <a:spcBef>
                <a:spcPts val="384"/>
              </a:spcBef>
              <a:spcAft>
                <a:spcPts val="0"/>
              </a:spcAft>
              <a:buClr>
                <a:schemeClr val="dk1"/>
              </a:buClr>
              <a:buSzPts val="1920"/>
              <a:buChar char="»"/>
              <a:defRPr sz="1920"/>
            </a:lvl5pPr>
            <a:lvl6pPr marL="2743200" lvl="5" indent="-350520" algn="l">
              <a:spcBef>
                <a:spcPts val="384"/>
              </a:spcBef>
              <a:spcAft>
                <a:spcPts val="0"/>
              </a:spcAft>
              <a:buClr>
                <a:schemeClr val="dk1"/>
              </a:buClr>
              <a:buSzPts val="1920"/>
              <a:buChar char="•"/>
              <a:defRPr sz="1920"/>
            </a:lvl6pPr>
            <a:lvl7pPr marL="3200400" lvl="6" indent="-350520" algn="l">
              <a:spcBef>
                <a:spcPts val="384"/>
              </a:spcBef>
              <a:spcAft>
                <a:spcPts val="0"/>
              </a:spcAft>
              <a:buClr>
                <a:schemeClr val="dk1"/>
              </a:buClr>
              <a:buSzPts val="1920"/>
              <a:buChar char="•"/>
              <a:defRPr sz="1920"/>
            </a:lvl7pPr>
            <a:lvl8pPr marL="3657600" lvl="7" indent="-350520" algn="l">
              <a:spcBef>
                <a:spcPts val="384"/>
              </a:spcBef>
              <a:spcAft>
                <a:spcPts val="0"/>
              </a:spcAft>
              <a:buClr>
                <a:schemeClr val="dk1"/>
              </a:buClr>
              <a:buSzPts val="1920"/>
              <a:buChar char="•"/>
              <a:defRPr sz="1920"/>
            </a:lvl8pPr>
            <a:lvl9pPr marL="4114800" lvl="8" indent="-350520" algn="l">
              <a:spcBef>
                <a:spcPts val="384"/>
              </a:spcBef>
              <a:spcAft>
                <a:spcPts val="0"/>
              </a:spcAft>
              <a:buClr>
                <a:schemeClr val="dk1"/>
              </a:buClr>
              <a:buSzPts val="1920"/>
              <a:buChar char="•"/>
              <a:defRPr sz="1920"/>
            </a:lvl9pPr>
          </a:lstStyle>
          <a:p>
            <a:endParaRPr/>
          </a:p>
        </p:txBody>
      </p:sp>
      <p:sp>
        <p:nvSpPr>
          <p:cNvPr id="32" name="Google Shape;32;p8"/>
          <p:cNvSpPr txBox="1">
            <a:spLocks noGrp="1"/>
          </p:cNvSpPr>
          <p:nvPr>
            <p:ph type="body" idx="2"/>
          </p:nvPr>
        </p:nvSpPr>
        <p:spPr>
          <a:xfrm>
            <a:off x="6197600" y="1600203"/>
            <a:ext cx="5384800" cy="4525963"/>
          </a:xfrm>
          <a:prstGeom prst="rect">
            <a:avLst/>
          </a:prstGeom>
          <a:noFill/>
          <a:ln>
            <a:noFill/>
          </a:ln>
        </p:spPr>
        <p:txBody>
          <a:bodyPr/>
          <a:lstStyle>
            <a:lvl1pPr marL="457200" lvl="0" indent="-419100" algn="l">
              <a:spcBef>
                <a:spcPts val="600"/>
              </a:spcBef>
              <a:spcAft>
                <a:spcPts val="0"/>
              </a:spcAft>
              <a:buClr>
                <a:schemeClr val="dk1"/>
              </a:buClr>
              <a:buSzPts val="3000"/>
              <a:buChar char="•"/>
              <a:defRPr sz="3000"/>
            </a:lvl1pPr>
            <a:lvl2pPr marL="914400" lvl="1" indent="-388619" algn="l">
              <a:spcBef>
                <a:spcPts val="504"/>
              </a:spcBef>
              <a:spcAft>
                <a:spcPts val="0"/>
              </a:spcAft>
              <a:buClr>
                <a:schemeClr val="dk1"/>
              </a:buClr>
              <a:buSzPts val="2520"/>
              <a:buChar char="–"/>
              <a:defRPr sz="2520"/>
            </a:lvl2pPr>
            <a:lvl3pPr marL="1371600" lvl="2" indent="-365760" algn="l">
              <a:spcBef>
                <a:spcPts val="432"/>
              </a:spcBef>
              <a:spcAft>
                <a:spcPts val="0"/>
              </a:spcAft>
              <a:buClr>
                <a:schemeClr val="dk1"/>
              </a:buClr>
              <a:buSzPts val="2160"/>
              <a:buChar char="•"/>
              <a:defRPr sz="2160"/>
            </a:lvl3pPr>
            <a:lvl4pPr marL="1828800" lvl="3" indent="-350519" algn="l">
              <a:spcBef>
                <a:spcPts val="384"/>
              </a:spcBef>
              <a:spcAft>
                <a:spcPts val="0"/>
              </a:spcAft>
              <a:buClr>
                <a:schemeClr val="dk1"/>
              </a:buClr>
              <a:buSzPts val="1920"/>
              <a:buChar char="–"/>
              <a:defRPr sz="1920"/>
            </a:lvl4pPr>
            <a:lvl5pPr marL="2286000" lvl="4" indent="-350520" algn="l">
              <a:spcBef>
                <a:spcPts val="384"/>
              </a:spcBef>
              <a:spcAft>
                <a:spcPts val="0"/>
              </a:spcAft>
              <a:buClr>
                <a:schemeClr val="dk1"/>
              </a:buClr>
              <a:buSzPts val="1920"/>
              <a:buChar char="»"/>
              <a:defRPr sz="1920"/>
            </a:lvl5pPr>
            <a:lvl6pPr marL="2743200" lvl="5" indent="-350520" algn="l">
              <a:spcBef>
                <a:spcPts val="384"/>
              </a:spcBef>
              <a:spcAft>
                <a:spcPts val="0"/>
              </a:spcAft>
              <a:buClr>
                <a:schemeClr val="dk1"/>
              </a:buClr>
              <a:buSzPts val="1920"/>
              <a:buChar char="•"/>
              <a:defRPr sz="1920"/>
            </a:lvl6pPr>
            <a:lvl7pPr marL="3200400" lvl="6" indent="-350520" algn="l">
              <a:spcBef>
                <a:spcPts val="384"/>
              </a:spcBef>
              <a:spcAft>
                <a:spcPts val="0"/>
              </a:spcAft>
              <a:buClr>
                <a:schemeClr val="dk1"/>
              </a:buClr>
              <a:buSzPts val="1920"/>
              <a:buChar char="•"/>
              <a:defRPr sz="1920"/>
            </a:lvl7pPr>
            <a:lvl8pPr marL="3657600" lvl="7" indent="-350520" algn="l">
              <a:spcBef>
                <a:spcPts val="384"/>
              </a:spcBef>
              <a:spcAft>
                <a:spcPts val="0"/>
              </a:spcAft>
              <a:buClr>
                <a:schemeClr val="dk1"/>
              </a:buClr>
              <a:buSzPts val="1920"/>
              <a:buChar char="•"/>
              <a:defRPr sz="1920"/>
            </a:lvl8pPr>
            <a:lvl9pPr marL="4114800" lvl="8" indent="-350520" algn="l">
              <a:spcBef>
                <a:spcPts val="384"/>
              </a:spcBef>
              <a:spcAft>
                <a:spcPts val="0"/>
              </a:spcAft>
              <a:buClr>
                <a:schemeClr val="dk1"/>
              </a:buClr>
              <a:buSzPts val="1920"/>
              <a:buChar char="•"/>
              <a:defRPr sz="1920"/>
            </a:lvl9pPr>
          </a:lstStyle>
          <a:p>
            <a:endParaRPr/>
          </a:p>
        </p:txBody>
      </p:sp>
      <p:sp>
        <p:nvSpPr>
          <p:cNvPr id="2" name="Google Shape;33;p8">
            <a:extLst>
              <a:ext uri="{FF2B5EF4-FFF2-40B4-BE49-F238E27FC236}">
                <a16:creationId xmlns:a16="http://schemas.microsoft.com/office/drawing/2014/main" id="{0F873A22-B656-B70D-AE94-2F4A1E02829F}"/>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34;p8">
            <a:extLst>
              <a:ext uri="{FF2B5EF4-FFF2-40B4-BE49-F238E27FC236}">
                <a16:creationId xmlns:a16="http://schemas.microsoft.com/office/drawing/2014/main" id="{7F472728-65B9-BEA8-E2AB-50A7502E2B8F}"/>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35;p8">
            <a:extLst>
              <a:ext uri="{FF2B5EF4-FFF2-40B4-BE49-F238E27FC236}">
                <a16:creationId xmlns:a16="http://schemas.microsoft.com/office/drawing/2014/main" id="{C4CC17D8-46D2-D015-B142-41A7C8CA2BF7}"/>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631F808A-BE66-40C6-A28B-D1952CC78A5C}" type="slidenum">
              <a:rPr lang="en-US"/>
              <a:pPr>
                <a:defRPr/>
              </a:pPr>
              <a:t>‹#›</a:t>
            </a:fld>
            <a:endParaRPr/>
          </a:p>
        </p:txBody>
      </p:sp>
    </p:spTree>
    <p:extLst>
      <p:ext uri="{BB962C8B-B14F-4D97-AF65-F5344CB8AC3E}">
        <p14:creationId xmlns:p14="http://schemas.microsoft.com/office/powerpoint/2010/main" val="2962370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2" name="Google Shape;51;p11">
            <a:extLst>
              <a:ext uri="{FF2B5EF4-FFF2-40B4-BE49-F238E27FC236}">
                <a16:creationId xmlns:a16="http://schemas.microsoft.com/office/drawing/2014/main" id="{B8D0276B-A5BA-701B-29D0-8A840E481603}"/>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52;p11">
            <a:extLst>
              <a:ext uri="{FF2B5EF4-FFF2-40B4-BE49-F238E27FC236}">
                <a16:creationId xmlns:a16="http://schemas.microsoft.com/office/drawing/2014/main" id="{2CA0BFC4-CB42-33F6-DD82-90444FE9E527}"/>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53;p11">
            <a:extLst>
              <a:ext uri="{FF2B5EF4-FFF2-40B4-BE49-F238E27FC236}">
                <a16:creationId xmlns:a16="http://schemas.microsoft.com/office/drawing/2014/main" id="{EFB5FE0E-85F5-D188-5D1D-0CF2891166A9}"/>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695F859B-F2B4-4294-AF96-B530928DD219}" type="slidenum">
              <a:rPr lang="en-US"/>
              <a:pPr>
                <a:defRPr/>
              </a:pPr>
              <a:t>‹#›</a:t>
            </a:fld>
            <a:endParaRPr/>
          </a:p>
        </p:txBody>
      </p:sp>
    </p:spTree>
    <p:extLst>
      <p:ext uri="{BB962C8B-B14F-4D97-AF65-F5344CB8AC3E}">
        <p14:creationId xmlns:p14="http://schemas.microsoft.com/office/powerpoint/2010/main" val="388826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609602" y="273051"/>
            <a:ext cx="4011084" cy="1162050"/>
          </a:xfrm>
          <a:prstGeom prst="rect">
            <a:avLst/>
          </a:prstGeom>
          <a:noFill/>
          <a:ln>
            <a:noFill/>
          </a:ln>
        </p:spPr>
        <p:txBody>
          <a:bodyPr anchor="b"/>
          <a:lstStyle>
            <a:lvl1pPr lvl="0" algn="l">
              <a:spcBef>
                <a:spcPts val="0"/>
              </a:spcBef>
              <a:spcAft>
                <a:spcPts val="0"/>
              </a:spcAft>
              <a:buClr>
                <a:schemeClr val="dk1"/>
              </a:buClr>
              <a:buSzPts val="2160"/>
              <a:buFont typeface="Calibri"/>
              <a:buNone/>
              <a:defRPr sz="216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4766736" y="273054"/>
            <a:ext cx="6815667" cy="5853113"/>
          </a:xfrm>
          <a:prstGeom prst="rect">
            <a:avLst/>
          </a:prstGeom>
          <a:noFill/>
          <a:ln>
            <a:noFill/>
          </a:ln>
        </p:spPr>
        <p:txBody>
          <a:bodyPr/>
          <a:lstStyle>
            <a:lvl1pPr marL="457200" lvl="0" indent="-441960" algn="l">
              <a:spcBef>
                <a:spcPts val="672"/>
              </a:spcBef>
              <a:spcAft>
                <a:spcPts val="0"/>
              </a:spcAft>
              <a:buClr>
                <a:schemeClr val="dk1"/>
              </a:buClr>
              <a:buSzPts val="3360"/>
              <a:buChar char="•"/>
              <a:defRPr sz="3359"/>
            </a:lvl1pPr>
            <a:lvl2pPr marL="914400" lvl="1" indent="-419100" algn="l">
              <a:spcBef>
                <a:spcPts val="600"/>
              </a:spcBef>
              <a:spcAft>
                <a:spcPts val="0"/>
              </a:spcAft>
              <a:buClr>
                <a:schemeClr val="dk1"/>
              </a:buClr>
              <a:buSzPts val="3000"/>
              <a:buChar char="–"/>
              <a:defRPr sz="3000"/>
            </a:lvl2pPr>
            <a:lvl3pPr marL="1371600" lvl="2" indent="-388619" algn="l">
              <a:spcBef>
                <a:spcPts val="504"/>
              </a:spcBef>
              <a:spcAft>
                <a:spcPts val="0"/>
              </a:spcAft>
              <a:buClr>
                <a:schemeClr val="dk1"/>
              </a:buClr>
              <a:buSzPts val="2520"/>
              <a:buChar char="•"/>
              <a:defRPr sz="2520"/>
            </a:lvl3pPr>
            <a:lvl4pPr marL="1828800" lvl="3" indent="-365760" algn="l">
              <a:spcBef>
                <a:spcPts val="432"/>
              </a:spcBef>
              <a:spcAft>
                <a:spcPts val="0"/>
              </a:spcAft>
              <a:buClr>
                <a:schemeClr val="dk1"/>
              </a:buClr>
              <a:buSzPts val="2160"/>
              <a:buChar char="–"/>
              <a:defRPr sz="2160"/>
            </a:lvl4pPr>
            <a:lvl5pPr marL="2286000" lvl="4" indent="-365760" algn="l">
              <a:spcBef>
                <a:spcPts val="432"/>
              </a:spcBef>
              <a:spcAft>
                <a:spcPts val="0"/>
              </a:spcAft>
              <a:buClr>
                <a:schemeClr val="dk1"/>
              </a:buClr>
              <a:buSzPts val="2160"/>
              <a:buChar char="»"/>
              <a:defRPr sz="2160"/>
            </a:lvl5pPr>
            <a:lvl6pPr marL="2743200" lvl="5" indent="-365760" algn="l">
              <a:spcBef>
                <a:spcPts val="432"/>
              </a:spcBef>
              <a:spcAft>
                <a:spcPts val="0"/>
              </a:spcAft>
              <a:buClr>
                <a:schemeClr val="dk1"/>
              </a:buClr>
              <a:buSzPts val="2160"/>
              <a:buChar char="•"/>
              <a:defRPr sz="2160"/>
            </a:lvl6pPr>
            <a:lvl7pPr marL="3200400" lvl="6" indent="-365760" algn="l">
              <a:spcBef>
                <a:spcPts val="432"/>
              </a:spcBef>
              <a:spcAft>
                <a:spcPts val="0"/>
              </a:spcAft>
              <a:buClr>
                <a:schemeClr val="dk1"/>
              </a:buClr>
              <a:buSzPts val="2160"/>
              <a:buChar char="•"/>
              <a:defRPr sz="2160"/>
            </a:lvl7pPr>
            <a:lvl8pPr marL="3657600" lvl="7" indent="-365759" algn="l">
              <a:spcBef>
                <a:spcPts val="432"/>
              </a:spcBef>
              <a:spcAft>
                <a:spcPts val="0"/>
              </a:spcAft>
              <a:buClr>
                <a:schemeClr val="dk1"/>
              </a:buClr>
              <a:buSzPts val="2160"/>
              <a:buChar char="•"/>
              <a:defRPr sz="2160"/>
            </a:lvl8pPr>
            <a:lvl9pPr marL="4114800" lvl="8" indent="-365759" algn="l">
              <a:spcBef>
                <a:spcPts val="432"/>
              </a:spcBef>
              <a:spcAft>
                <a:spcPts val="0"/>
              </a:spcAft>
              <a:buClr>
                <a:schemeClr val="dk1"/>
              </a:buClr>
              <a:buSzPts val="2160"/>
              <a:buChar char="•"/>
              <a:defRPr sz="2160"/>
            </a:lvl9pPr>
          </a:lstStyle>
          <a:p>
            <a:endParaRPr/>
          </a:p>
        </p:txBody>
      </p:sp>
      <p:sp>
        <p:nvSpPr>
          <p:cNvPr id="57" name="Google Shape;57;p12"/>
          <p:cNvSpPr txBox="1">
            <a:spLocks noGrp="1"/>
          </p:cNvSpPr>
          <p:nvPr>
            <p:ph type="body" idx="2"/>
          </p:nvPr>
        </p:nvSpPr>
        <p:spPr>
          <a:xfrm>
            <a:off x="609602" y="1435103"/>
            <a:ext cx="4011084" cy="4691063"/>
          </a:xfrm>
          <a:prstGeom prst="rect">
            <a:avLst/>
          </a:prstGeom>
          <a:noFill/>
          <a:ln>
            <a:noFill/>
          </a:ln>
        </p:spPr>
        <p:txBody>
          <a:bodyPr/>
          <a:lstStyle>
            <a:lvl1pPr marL="457200" lvl="0" indent="-228600" algn="l">
              <a:spcBef>
                <a:spcPts val="288"/>
              </a:spcBef>
              <a:spcAft>
                <a:spcPts val="0"/>
              </a:spcAft>
              <a:buClr>
                <a:schemeClr val="dk1"/>
              </a:buClr>
              <a:buSzPts val="1440"/>
              <a:buNone/>
              <a:defRPr sz="1440"/>
            </a:lvl1pPr>
            <a:lvl2pPr marL="914400" lvl="1" indent="-228600" algn="l">
              <a:spcBef>
                <a:spcPts val="264"/>
              </a:spcBef>
              <a:spcAft>
                <a:spcPts val="0"/>
              </a:spcAft>
              <a:buClr>
                <a:schemeClr val="dk1"/>
              </a:buClr>
              <a:buSzPts val="1320"/>
              <a:buNone/>
              <a:defRPr sz="1320"/>
            </a:lvl2pPr>
            <a:lvl3pPr marL="1371600" lvl="2" indent="-228600" algn="l">
              <a:spcBef>
                <a:spcPts val="216"/>
              </a:spcBef>
              <a:spcAft>
                <a:spcPts val="0"/>
              </a:spcAft>
              <a:buClr>
                <a:schemeClr val="dk1"/>
              </a:buClr>
              <a:buSzPts val="1080"/>
              <a:buNone/>
              <a:defRPr sz="1080"/>
            </a:lvl3pPr>
            <a:lvl4pPr marL="1828800" lvl="3" indent="-228600" algn="l">
              <a:spcBef>
                <a:spcPts val="192"/>
              </a:spcBef>
              <a:spcAft>
                <a:spcPts val="0"/>
              </a:spcAft>
              <a:buClr>
                <a:schemeClr val="dk1"/>
              </a:buClr>
              <a:buSzPts val="960"/>
              <a:buNone/>
              <a:defRPr sz="960"/>
            </a:lvl4pPr>
            <a:lvl5pPr marL="2286000" lvl="4" indent="-228600" algn="l">
              <a:spcBef>
                <a:spcPts val="192"/>
              </a:spcBef>
              <a:spcAft>
                <a:spcPts val="0"/>
              </a:spcAft>
              <a:buClr>
                <a:schemeClr val="dk1"/>
              </a:buClr>
              <a:buSzPts val="960"/>
              <a:buNone/>
              <a:defRPr sz="960"/>
            </a:lvl5pPr>
            <a:lvl6pPr marL="2743200" lvl="5" indent="-228600" algn="l">
              <a:spcBef>
                <a:spcPts val="192"/>
              </a:spcBef>
              <a:spcAft>
                <a:spcPts val="0"/>
              </a:spcAft>
              <a:buClr>
                <a:schemeClr val="dk1"/>
              </a:buClr>
              <a:buSzPts val="960"/>
              <a:buNone/>
              <a:defRPr sz="960"/>
            </a:lvl6pPr>
            <a:lvl7pPr marL="3200400" lvl="6" indent="-228600" algn="l">
              <a:spcBef>
                <a:spcPts val="192"/>
              </a:spcBef>
              <a:spcAft>
                <a:spcPts val="0"/>
              </a:spcAft>
              <a:buClr>
                <a:schemeClr val="dk1"/>
              </a:buClr>
              <a:buSzPts val="960"/>
              <a:buNone/>
              <a:defRPr sz="960"/>
            </a:lvl7pPr>
            <a:lvl8pPr marL="3657600" lvl="7" indent="-228600" algn="l">
              <a:spcBef>
                <a:spcPts val="192"/>
              </a:spcBef>
              <a:spcAft>
                <a:spcPts val="0"/>
              </a:spcAft>
              <a:buClr>
                <a:schemeClr val="dk1"/>
              </a:buClr>
              <a:buSzPts val="960"/>
              <a:buNone/>
              <a:defRPr sz="960"/>
            </a:lvl8pPr>
            <a:lvl9pPr marL="4114800" lvl="8" indent="-228600" algn="l">
              <a:spcBef>
                <a:spcPts val="192"/>
              </a:spcBef>
              <a:spcAft>
                <a:spcPts val="0"/>
              </a:spcAft>
              <a:buClr>
                <a:schemeClr val="dk1"/>
              </a:buClr>
              <a:buSzPts val="960"/>
              <a:buNone/>
              <a:defRPr sz="960"/>
            </a:lvl9pPr>
          </a:lstStyle>
          <a:p>
            <a:endParaRPr/>
          </a:p>
        </p:txBody>
      </p:sp>
      <p:sp>
        <p:nvSpPr>
          <p:cNvPr id="2" name="Google Shape;58;p12">
            <a:extLst>
              <a:ext uri="{FF2B5EF4-FFF2-40B4-BE49-F238E27FC236}">
                <a16:creationId xmlns:a16="http://schemas.microsoft.com/office/drawing/2014/main" id="{78EB4BF1-BC07-9A40-4FD1-AD2C8E2A778A}"/>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59;p12">
            <a:extLst>
              <a:ext uri="{FF2B5EF4-FFF2-40B4-BE49-F238E27FC236}">
                <a16:creationId xmlns:a16="http://schemas.microsoft.com/office/drawing/2014/main" id="{1689CE93-5AD8-9DEA-6A9B-F428A0FB2A13}"/>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60;p12">
            <a:extLst>
              <a:ext uri="{FF2B5EF4-FFF2-40B4-BE49-F238E27FC236}">
                <a16:creationId xmlns:a16="http://schemas.microsoft.com/office/drawing/2014/main" id="{86AFF95E-0204-1B12-9DC7-506EB65C43F2}"/>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B946C5B2-E8B8-4013-A7F1-46B158A9F482}" type="slidenum">
              <a:rPr lang="en-US"/>
              <a:pPr>
                <a:defRPr/>
              </a:pPr>
              <a:t>‹#›</a:t>
            </a:fld>
            <a:endParaRPr/>
          </a:p>
        </p:txBody>
      </p:sp>
    </p:spTree>
    <p:extLst>
      <p:ext uri="{BB962C8B-B14F-4D97-AF65-F5344CB8AC3E}">
        <p14:creationId xmlns:p14="http://schemas.microsoft.com/office/powerpoint/2010/main" val="145614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2389717" y="4800600"/>
            <a:ext cx="7315200" cy="566738"/>
          </a:xfrm>
          <a:prstGeom prst="rect">
            <a:avLst/>
          </a:prstGeom>
          <a:noFill/>
          <a:ln>
            <a:noFill/>
          </a:ln>
        </p:spPr>
        <p:txBody>
          <a:bodyPr anchor="b"/>
          <a:lstStyle>
            <a:lvl1pPr lvl="0" algn="l">
              <a:spcBef>
                <a:spcPts val="0"/>
              </a:spcBef>
              <a:spcAft>
                <a:spcPts val="0"/>
              </a:spcAft>
              <a:buClr>
                <a:schemeClr val="dk1"/>
              </a:buClr>
              <a:buSzPts val="2160"/>
              <a:buFont typeface="Calibri"/>
              <a:buNone/>
              <a:defRPr sz="216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3"/>
          <p:cNvSpPr>
            <a:spLocks noGrp="1"/>
          </p:cNvSpPr>
          <p:nvPr>
            <p:ph type="pic" idx="2"/>
          </p:nvPr>
        </p:nvSpPr>
        <p:spPr>
          <a:xfrm>
            <a:off x="2389717" y="612775"/>
            <a:ext cx="7315200" cy="4114800"/>
          </a:xfrm>
          <a:prstGeom prst="rect">
            <a:avLst/>
          </a:prstGeom>
          <a:noFill/>
          <a:ln>
            <a:noFill/>
          </a:ln>
        </p:spPr>
      </p:sp>
      <p:sp>
        <p:nvSpPr>
          <p:cNvPr id="64" name="Google Shape;64;p13"/>
          <p:cNvSpPr txBox="1">
            <a:spLocks noGrp="1"/>
          </p:cNvSpPr>
          <p:nvPr>
            <p:ph type="body" idx="1"/>
          </p:nvPr>
        </p:nvSpPr>
        <p:spPr>
          <a:xfrm>
            <a:off x="2389717" y="5367338"/>
            <a:ext cx="7315200" cy="804862"/>
          </a:xfrm>
          <a:prstGeom prst="rect">
            <a:avLst/>
          </a:prstGeom>
          <a:noFill/>
          <a:ln>
            <a:noFill/>
          </a:ln>
        </p:spPr>
        <p:txBody>
          <a:bodyPr/>
          <a:lstStyle>
            <a:lvl1pPr marL="457200" lvl="0" indent="-228600" algn="l">
              <a:spcBef>
                <a:spcPts val="288"/>
              </a:spcBef>
              <a:spcAft>
                <a:spcPts val="0"/>
              </a:spcAft>
              <a:buClr>
                <a:schemeClr val="dk1"/>
              </a:buClr>
              <a:buSzPts val="1440"/>
              <a:buNone/>
              <a:defRPr sz="1440"/>
            </a:lvl1pPr>
            <a:lvl2pPr marL="914400" lvl="1" indent="-228600" algn="l">
              <a:spcBef>
                <a:spcPts val="264"/>
              </a:spcBef>
              <a:spcAft>
                <a:spcPts val="0"/>
              </a:spcAft>
              <a:buClr>
                <a:schemeClr val="dk1"/>
              </a:buClr>
              <a:buSzPts val="1320"/>
              <a:buNone/>
              <a:defRPr sz="1320"/>
            </a:lvl2pPr>
            <a:lvl3pPr marL="1371600" lvl="2" indent="-228600" algn="l">
              <a:spcBef>
                <a:spcPts val="216"/>
              </a:spcBef>
              <a:spcAft>
                <a:spcPts val="0"/>
              </a:spcAft>
              <a:buClr>
                <a:schemeClr val="dk1"/>
              </a:buClr>
              <a:buSzPts val="1080"/>
              <a:buNone/>
              <a:defRPr sz="1080"/>
            </a:lvl3pPr>
            <a:lvl4pPr marL="1828800" lvl="3" indent="-228600" algn="l">
              <a:spcBef>
                <a:spcPts val="192"/>
              </a:spcBef>
              <a:spcAft>
                <a:spcPts val="0"/>
              </a:spcAft>
              <a:buClr>
                <a:schemeClr val="dk1"/>
              </a:buClr>
              <a:buSzPts val="960"/>
              <a:buNone/>
              <a:defRPr sz="960"/>
            </a:lvl4pPr>
            <a:lvl5pPr marL="2286000" lvl="4" indent="-228600" algn="l">
              <a:spcBef>
                <a:spcPts val="192"/>
              </a:spcBef>
              <a:spcAft>
                <a:spcPts val="0"/>
              </a:spcAft>
              <a:buClr>
                <a:schemeClr val="dk1"/>
              </a:buClr>
              <a:buSzPts val="960"/>
              <a:buNone/>
              <a:defRPr sz="960"/>
            </a:lvl5pPr>
            <a:lvl6pPr marL="2743200" lvl="5" indent="-228600" algn="l">
              <a:spcBef>
                <a:spcPts val="192"/>
              </a:spcBef>
              <a:spcAft>
                <a:spcPts val="0"/>
              </a:spcAft>
              <a:buClr>
                <a:schemeClr val="dk1"/>
              </a:buClr>
              <a:buSzPts val="960"/>
              <a:buNone/>
              <a:defRPr sz="960"/>
            </a:lvl6pPr>
            <a:lvl7pPr marL="3200400" lvl="6" indent="-228600" algn="l">
              <a:spcBef>
                <a:spcPts val="192"/>
              </a:spcBef>
              <a:spcAft>
                <a:spcPts val="0"/>
              </a:spcAft>
              <a:buClr>
                <a:schemeClr val="dk1"/>
              </a:buClr>
              <a:buSzPts val="960"/>
              <a:buNone/>
              <a:defRPr sz="960"/>
            </a:lvl7pPr>
            <a:lvl8pPr marL="3657600" lvl="7" indent="-228600" algn="l">
              <a:spcBef>
                <a:spcPts val="192"/>
              </a:spcBef>
              <a:spcAft>
                <a:spcPts val="0"/>
              </a:spcAft>
              <a:buClr>
                <a:schemeClr val="dk1"/>
              </a:buClr>
              <a:buSzPts val="960"/>
              <a:buNone/>
              <a:defRPr sz="960"/>
            </a:lvl8pPr>
            <a:lvl9pPr marL="4114800" lvl="8" indent="-228600" algn="l">
              <a:spcBef>
                <a:spcPts val="192"/>
              </a:spcBef>
              <a:spcAft>
                <a:spcPts val="0"/>
              </a:spcAft>
              <a:buClr>
                <a:schemeClr val="dk1"/>
              </a:buClr>
              <a:buSzPts val="960"/>
              <a:buNone/>
              <a:defRPr sz="960"/>
            </a:lvl9pPr>
          </a:lstStyle>
          <a:p>
            <a:endParaRPr/>
          </a:p>
        </p:txBody>
      </p:sp>
      <p:sp>
        <p:nvSpPr>
          <p:cNvPr id="2" name="Google Shape;65;p13">
            <a:extLst>
              <a:ext uri="{FF2B5EF4-FFF2-40B4-BE49-F238E27FC236}">
                <a16:creationId xmlns:a16="http://schemas.microsoft.com/office/drawing/2014/main" id="{6830560B-EC46-0D2D-393A-2FE48266FD45}"/>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66;p13">
            <a:extLst>
              <a:ext uri="{FF2B5EF4-FFF2-40B4-BE49-F238E27FC236}">
                <a16:creationId xmlns:a16="http://schemas.microsoft.com/office/drawing/2014/main" id="{C8DB439E-052B-358D-1FA5-E685A6392079}"/>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67;p13">
            <a:extLst>
              <a:ext uri="{FF2B5EF4-FFF2-40B4-BE49-F238E27FC236}">
                <a16:creationId xmlns:a16="http://schemas.microsoft.com/office/drawing/2014/main" id="{10608590-4128-59A2-58E9-A09775FEF5AA}"/>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3E1E7C7B-C7D3-419A-A00C-6260B9E8BA37}" type="slidenum">
              <a:rPr lang="en-US"/>
              <a:pPr>
                <a:defRPr/>
              </a:pPr>
              <a:t>‹#›</a:t>
            </a:fld>
            <a:endParaRPr/>
          </a:p>
        </p:txBody>
      </p:sp>
    </p:spTree>
    <p:extLst>
      <p:ext uri="{BB962C8B-B14F-4D97-AF65-F5344CB8AC3E}">
        <p14:creationId xmlns:p14="http://schemas.microsoft.com/office/powerpoint/2010/main" val="853134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609600" y="274638"/>
            <a:ext cx="10972800" cy="1143000"/>
          </a:xfrm>
          <a:prstGeom prst="rect">
            <a:avLst/>
          </a:prstGeom>
          <a:noFill/>
          <a:ln>
            <a:noFill/>
          </a:ln>
        </p:spPr>
        <p:txBody>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833020" y="-1623218"/>
            <a:ext cx="4525963" cy="10972800"/>
          </a:xfrm>
          <a:prstGeom prst="rect">
            <a:avLst/>
          </a:prstGeom>
          <a:noFill/>
          <a:ln>
            <a:noFill/>
          </a:ln>
        </p:spPr>
        <p:txBody>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 name="Google Shape;71;p14">
            <a:extLst>
              <a:ext uri="{FF2B5EF4-FFF2-40B4-BE49-F238E27FC236}">
                <a16:creationId xmlns:a16="http://schemas.microsoft.com/office/drawing/2014/main" id="{B9A4786C-67EA-6C04-CA3D-F992D59290ED}"/>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72;p14">
            <a:extLst>
              <a:ext uri="{FF2B5EF4-FFF2-40B4-BE49-F238E27FC236}">
                <a16:creationId xmlns:a16="http://schemas.microsoft.com/office/drawing/2014/main" id="{2AA6D83F-AFD4-54A0-CD63-BAB24C5CAACA}"/>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73;p14">
            <a:extLst>
              <a:ext uri="{FF2B5EF4-FFF2-40B4-BE49-F238E27FC236}">
                <a16:creationId xmlns:a16="http://schemas.microsoft.com/office/drawing/2014/main" id="{0762581D-3ED7-3FA0-E761-039876C13F47}"/>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456F98DD-0713-4981-BE72-6777F706CC00}" type="slidenum">
              <a:rPr lang="en-US"/>
              <a:pPr>
                <a:defRPr/>
              </a:pPr>
              <a:t>‹#›</a:t>
            </a:fld>
            <a:endParaRPr/>
          </a:p>
        </p:txBody>
      </p:sp>
    </p:spTree>
    <p:extLst>
      <p:ext uri="{BB962C8B-B14F-4D97-AF65-F5344CB8AC3E}">
        <p14:creationId xmlns:p14="http://schemas.microsoft.com/office/powerpoint/2010/main" val="1251630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285039" y="1828803"/>
            <a:ext cx="5851525" cy="2743200"/>
          </a:xfrm>
          <a:prstGeom prst="rect">
            <a:avLst/>
          </a:prstGeom>
          <a:noFill/>
          <a:ln>
            <a:noFill/>
          </a:ln>
        </p:spPr>
        <p:txBody>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697039" y="-812797"/>
            <a:ext cx="5851525" cy="8026400"/>
          </a:xfrm>
          <a:prstGeom prst="rect">
            <a:avLst/>
          </a:prstGeom>
          <a:noFill/>
          <a:ln>
            <a:noFill/>
          </a:ln>
        </p:spPr>
        <p:txBody>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 name="Google Shape;77;p15">
            <a:extLst>
              <a:ext uri="{FF2B5EF4-FFF2-40B4-BE49-F238E27FC236}">
                <a16:creationId xmlns:a16="http://schemas.microsoft.com/office/drawing/2014/main" id="{17DA1089-C8A2-E22B-F7F8-36C6B7096E3C}"/>
              </a:ext>
            </a:extLst>
          </p:cNvPr>
          <p:cNvSpPr txBox="1">
            <a:spLocks noGrp="1"/>
          </p:cNvSpPr>
          <p:nvPr>
            <p:ph type="dt" idx="10"/>
          </p:nvPr>
        </p:nvSpPr>
        <p:spPr/>
        <p:txBody>
          <a:bodyPr/>
          <a:lstStyle>
            <a:lvl1pPr lvl="0" algn="l">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78;p15">
            <a:extLst>
              <a:ext uri="{FF2B5EF4-FFF2-40B4-BE49-F238E27FC236}">
                <a16:creationId xmlns:a16="http://schemas.microsoft.com/office/drawing/2014/main" id="{420D58EF-0EAF-56BB-8E42-CE9DCE9BC03A}"/>
              </a:ext>
            </a:extLst>
          </p:cNvPr>
          <p:cNvSpPr txBox="1">
            <a:spLocks noGrp="1"/>
          </p:cNvSpPr>
          <p:nvPr>
            <p:ph type="ftr" idx="11"/>
          </p:nvPr>
        </p:nvSpPr>
        <p:spPr/>
        <p:txBody>
          <a:bodyPr/>
          <a:lstStyle>
            <a:lvl1pPr lvl="0" algn="ctr">
              <a:spcBef>
                <a:spcPts val="0"/>
              </a:spcBef>
              <a:spcAft>
                <a:spcPts val="0"/>
              </a:spcAft>
              <a:buClrTx/>
              <a:buSzPts val="1400"/>
              <a:buFontTx/>
              <a:buNone/>
              <a:defRPr kern="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79;p15">
            <a:extLst>
              <a:ext uri="{FF2B5EF4-FFF2-40B4-BE49-F238E27FC236}">
                <a16:creationId xmlns:a16="http://schemas.microsoft.com/office/drawing/2014/main" id="{D29183DB-5A01-7B98-BB1F-F72734E3D486}"/>
              </a:ext>
            </a:extLst>
          </p:cNvPr>
          <p:cNvSpPr txBox="1">
            <a:spLocks noGrp="1"/>
          </p:cNvSpPr>
          <p:nvPr>
            <p:ph type="sldNum" idx="12"/>
          </p:nvPr>
        </p:nvSpPr>
        <p:spPr/>
        <p:txBody>
          <a:bodyPr/>
          <a:lstStyle>
            <a:lvl1pPr marL="0" lvl="0" indent="0" algn="r">
              <a:spcBef>
                <a:spcPts val="0"/>
              </a:spcBef>
              <a:buClrTx/>
              <a:buFontTx/>
              <a:buNone/>
              <a:defRPr kern="1200"/>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7A754393-AC14-454F-A816-D59A145642EC}" type="slidenum">
              <a:rPr lang="en-US"/>
              <a:pPr>
                <a:defRPr/>
              </a:pPr>
              <a:t>‹#›</a:t>
            </a:fld>
            <a:endParaRPr/>
          </a:p>
        </p:txBody>
      </p:sp>
    </p:spTree>
    <p:extLst>
      <p:ext uri="{BB962C8B-B14F-4D97-AF65-F5344CB8AC3E}">
        <p14:creationId xmlns:p14="http://schemas.microsoft.com/office/powerpoint/2010/main" val="815041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0"/>
          <a:srcRect/>
          <a:stretch>
            <a:fillRect/>
          </a:stretch>
        </a:blipFill>
        <a:effectLst/>
      </p:bgPr>
    </p:bg>
    <p:spTree>
      <p:nvGrpSpPr>
        <p:cNvPr id="1" name=""/>
        <p:cNvGrpSpPr/>
        <p:nvPr/>
      </p:nvGrpSpPr>
      <p:grpSpPr>
        <a:xfrm>
          <a:off x="0" y="0"/>
          <a:ext cx="0" cy="0"/>
          <a:chOff x="0" y="0"/>
          <a:chExt cx="0" cy="0"/>
        </a:xfrm>
      </p:grpSpPr>
      <p:sp>
        <p:nvSpPr>
          <p:cNvPr id="6" name="Google Shape;6;p4">
            <a:extLst>
              <a:ext uri="{FF2B5EF4-FFF2-40B4-BE49-F238E27FC236}">
                <a16:creationId xmlns:a16="http://schemas.microsoft.com/office/drawing/2014/main" id="{EFE614AC-EC4A-B4E4-7ACC-6E26956314E3}"/>
              </a:ext>
            </a:extLst>
          </p:cNvPr>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marR="0" lvl="0" algn="ctr" rtl="0">
              <a:spcBef>
                <a:spcPts val="0"/>
              </a:spcBef>
              <a:spcAft>
                <a:spcPts val="0"/>
              </a:spcAft>
              <a:buClr>
                <a:schemeClr val="dk1"/>
              </a:buClr>
              <a:buSzPts val="4680"/>
              <a:buFont typeface="Calibri"/>
              <a:buNone/>
              <a:defRPr sz="468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a:extLst>
              <a:ext uri="{FF2B5EF4-FFF2-40B4-BE49-F238E27FC236}">
                <a16:creationId xmlns:a16="http://schemas.microsoft.com/office/drawing/2014/main" id="{7F8325A5-9F04-4697-D767-81F7DC3A26E3}"/>
              </a:ext>
            </a:extLst>
          </p:cNvPr>
          <p:cNvSpPr txBox="1">
            <a:spLocks noGrp="1"/>
          </p:cNvSpPr>
          <p:nvPr>
            <p:ph type="body" idx="1"/>
          </p:nvPr>
        </p:nvSpPr>
        <p:spPr>
          <a:xfrm>
            <a:off x="609600" y="1600200"/>
            <a:ext cx="10972800" cy="4525963"/>
          </a:xfrm>
          <a:prstGeom prst="rect">
            <a:avLst/>
          </a:prstGeom>
          <a:noFill/>
          <a:ln>
            <a:noFill/>
          </a:ln>
        </p:spPr>
        <p:txBody>
          <a:bodyPr spcFirstLastPara="1" wrap="square" lIns="81025" tIns="40500" rIns="81025" bIns="40500" anchor="t" anchorCtr="0">
            <a:normAutofit/>
          </a:bodyPr>
          <a:lstStyle>
            <a:lvl1pPr marL="457200" marR="0" lvl="0" indent="-441960" algn="l" rtl="0">
              <a:spcBef>
                <a:spcPts val="672"/>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1pPr>
            <a:lvl2pPr marL="914400" marR="0" lvl="1" indent="-419100" algn="l" rtl="0">
              <a:spcBef>
                <a:spcPts val="6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2pPr>
            <a:lvl3pPr marL="1371600" marR="0" lvl="2" indent="-388619" algn="l" rtl="0">
              <a:spcBef>
                <a:spcPts val="504"/>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3pPr>
            <a:lvl4pPr marL="1828800" marR="0" lvl="3" indent="-365760" algn="l" rtl="0">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4pPr>
            <a:lvl5pPr marL="2286000" marR="0" lvl="4" indent="-365760" algn="l" rtl="0">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5pPr>
            <a:lvl6pPr marL="2743200" marR="0" lvl="5" indent="-365760" algn="l" rtl="0">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6pPr>
            <a:lvl7pPr marL="3200400" marR="0" lvl="6" indent="-365760" algn="l" rtl="0">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7pPr>
            <a:lvl8pPr marL="3657600" marR="0" lvl="7" indent="-365759" algn="l" rtl="0">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8pPr>
            <a:lvl9pPr marL="4114800" marR="0" lvl="8" indent="-365759" algn="l" rtl="0">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9pPr>
          </a:lstStyle>
          <a:p>
            <a:endParaRPr/>
          </a:p>
        </p:txBody>
      </p:sp>
      <p:sp>
        <p:nvSpPr>
          <p:cNvPr id="8" name="Google Shape;8;p4">
            <a:extLst>
              <a:ext uri="{FF2B5EF4-FFF2-40B4-BE49-F238E27FC236}">
                <a16:creationId xmlns:a16="http://schemas.microsoft.com/office/drawing/2014/main" id="{F6EFBDA3-C7EA-130B-3318-E5BCC90F0829}"/>
              </a:ext>
            </a:extLst>
          </p:cNvPr>
          <p:cNvSpPr txBox="1">
            <a:spLocks noGrp="1"/>
          </p:cNvSpPr>
          <p:nvPr>
            <p:ph type="dt" idx="10"/>
          </p:nvPr>
        </p:nvSpPr>
        <p:spPr>
          <a:xfrm>
            <a:off x="609600" y="6356350"/>
            <a:ext cx="2844800" cy="365125"/>
          </a:xfrm>
          <a:prstGeom prst="rect">
            <a:avLst/>
          </a:prstGeom>
          <a:noFill/>
          <a:ln>
            <a:noFill/>
          </a:ln>
        </p:spPr>
        <p:txBody>
          <a:bodyPr spcFirstLastPara="1" wrap="square" lIns="81025" tIns="40500" rIns="81025" bIns="40500" anchor="ctr" anchorCtr="0">
            <a:noAutofit/>
          </a:bodyPr>
          <a:lstStyle>
            <a:lvl1pPr marR="0" lvl="0" algn="l" rtl="0">
              <a:spcBef>
                <a:spcPts val="0"/>
              </a:spcBef>
              <a:spcAft>
                <a:spcPts val="0"/>
              </a:spcAft>
              <a:buClr>
                <a:srgbClr val="000000"/>
              </a:buClr>
              <a:buSzPts val="1400"/>
              <a:buFont typeface="Arial"/>
              <a:buNone/>
              <a:defRPr sz="1320" b="0" i="0" u="none" strike="noStrike" kern="0" cap="none">
                <a:solidFill>
                  <a:srgbClr val="888888"/>
                </a:solidFill>
                <a:latin typeface="Calibri"/>
                <a:ea typeface="Calibri"/>
                <a:cs typeface="Calibri"/>
                <a:sym typeface="Calibri"/>
              </a:defRPr>
            </a:lvl1pPr>
            <a:lvl2pPr marR="0" lvl="1"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9pPr>
          </a:lstStyle>
          <a:p>
            <a:pPr>
              <a:defRPr/>
            </a:pPr>
            <a:endParaRPr/>
          </a:p>
        </p:txBody>
      </p:sp>
      <p:sp>
        <p:nvSpPr>
          <p:cNvPr id="9" name="Google Shape;9;p4">
            <a:extLst>
              <a:ext uri="{FF2B5EF4-FFF2-40B4-BE49-F238E27FC236}">
                <a16:creationId xmlns:a16="http://schemas.microsoft.com/office/drawing/2014/main" id="{87A4DB0D-33F7-1C38-286C-F33035BD1509}"/>
              </a:ext>
            </a:extLst>
          </p:cNvPr>
          <p:cNvSpPr txBox="1">
            <a:spLocks noGrp="1"/>
          </p:cNvSpPr>
          <p:nvPr>
            <p:ph type="ftr" idx="11"/>
          </p:nvPr>
        </p:nvSpPr>
        <p:spPr>
          <a:xfrm>
            <a:off x="4165600" y="6356350"/>
            <a:ext cx="3860800" cy="365125"/>
          </a:xfrm>
          <a:prstGeom prst="rect">
            <a:avLst/>
          </a:prstGeom>
          <a:noFill/>
          <a:ln>
            <a:noFill/>
          </a:ln>
        </p:spPr>
        <p:txBody>
          <a:bodyPr spcFirstLastPara="1" wrap="square" lIns="81025" tIns="40500" rIns="81025" bIns="40500" anchor="ctr" anchorCtr="0">
            <a:noAutofit/>
          </a:bodyPr>
          <a:lstStyle>
            <a:lvl1pPr marR="0" lvl="0" algn="ctr" rtl="0">
              <a:spcBef>
                <a:spcPts val="0"/>
              </a:spcBef>
              <a:spcAft>
                <a:spcPts val="0"/>
              </a:spcAft>
              <a:buClr>
                <a:srgbClr val="000000"/>
              </a:buClr>
              <a:buSzPts val="1400"/>
              <a:buFont typeface="Arial"/>
              <a:buNone/>
              <a:defRPr sz="1320" b="0" i="0" u="none" strike="noStrike" kern="0" cap="none">
                <a:solidFill>
                  <a:srgbClr val="888888"/>
                </a:solidFill>
                <a:latin typeface="Calibri"/>
                <a:ea typeface="Calibri"/>
                <a:cs typeface="Calibri"/>
                <a:sym typeface="Calibri"/>
              </a:defRPr>
            </a:lvl1pPr>
            <a:lvl2pPr marR="0" lvl="1"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51" b="0" i="0" u="none" strike="noStrike" cap="none">
                <a:solidFill>
                  <a:schemeClr val="dk1"/>
                </a:solidFill>
                <a:latin typeface="Calibri"/>
                <a:ea typeface="Calibri"/>
                <a:cs typeface="Calibri"/>
                <a:sym typeface="Calibri"/>
              </a:defRPr>
            </a:lvl9pPr>
          </a:lstStyle>
          <a:p>
            <a:pPr>
              <a:defRPr/>
            </a:pPr>
            <a:endParaRPr/>
          </a:p>
        </p:txBody>
      </p:sp>
      <p:sp>
        <p:nvSpPr>
          <p:cNvPr id="10" name="Google Shape;10;p4">
            <a:extLst>
              <a:ext uri="{FF2B5EF4-FFF2-40B4-BE49-F238E27FC236}">
                <a16:creationId xmlns:a16="http://schemas.microsoft.com/office/drawing/2014/main" id="{093857D4-A9C7-C39D-5327-36B1215EEB6E}"/>
              </a:ext>
            </a:extLst>
          </p:cNvPr>
          <p:cNvSpPr txBox="1">
            <a:spLocks noGrp="1"/>
          </p:cNvSpPr>
          <p:nvPr>
            <p:ph type="sldNum" idx="12"/>
          </p:nvPr>
        </p:nvSpPr>
        <p:spPr>
          <a:xfrm>
            <a:off x="8737600" y="6356350"/>
            <a:ext cx="2844800" cy="365125"/>
          </a:xfrm>
          <a:prstGeom prst="rect">
            <a:avLst/>
          </a:prstGeom>
          <a:noFill/>
          <a:ln>
            <a:noFill/>
          </a:ln>
        </p:spPr>
        <p:txBody>
          <a:bodyPr spcFirstLastPara="1" wrap="square" lIns="81025" tIns="40500" rIns="81025" bIns="40500" anchor="ctr" anchorCtr="0">
            <a:noAutofit/>
          </a:bodyPr>
          <a:lstStyle>
            <a:lvl1pPr marL="0" marR="0" lvl="0" indent="0" algn="r" rtl="0">
              <a:spcBef>
                <a:spcPts val="0"/>
              </a:spcBef>
              <a:buClr>
                <a:srgbClr val="000000"/>
              </a:buClr>
              <a:buFont typeface="Arial"/>
              <a:buNone/>
              <a:defRPr sz="1320" b="0" i="0" u="none" strike="noStrike" kern="0" cap="none">
                <a:solidFill>
                  <a:srgbClr val="888888"/>
                </a:solidFill>
                <a:latin typeface="Calibri"/>
                <a:ea typeface="Calibri"/>
                <a:cs typeface="Calibri"/>
                <a:sym typeface="Calibri"/>
              </a:defRPr>
            </a:lvl1pPr>
            <a:lvl2pPr marL="0" marR="0" lvl="1" indent="0" algn="r" rtl="0">
              <a:spcBef>
                <a:spcPts val="0"/>
              </a:spcBef>
              <a:buNone/>
              <a:defRPr sz="1320" b="0" i="0" u="none" strike="noStrike" cap="none">
                <a:solidFill>
                  <a:srgbClr val="888888"/>
                </a:solidFill>
                <a:latin typeface="Calibri"/>
                <a:ea typeface="Calibri"/>
                <a:cs typeface="Calibri"/>
                <a:sym typeface="Calibri"/>
              </a:defRPr>
            </a:lvl2pPr>
            <a:lvl3pPr marL="0" marR="0" lvl="2" indent="0" algn="r" rtl="0">
              <a:spcBef>
                <a:spcPts val="0"/>
              </a:spcBef>
              <a:buNone/>
              <a:defRPr sz="1320" b="0" i="0" u="none" strike="noStrike" cap="none">
                <a:solidFill>
                  <a:srgbClr val="888888"/>
                </a:solidFill>
                <a:latin typeface="Calibri"/>
                <a:ea typeface="Calibri"/>
                <a:cs typeface="Calibri"/>
                <a:sym typeface="Calibri"/>
              </a:defRPr>
            </a:lvl3pPr>
            <a:lvl4pPr marL="0" marR="0" lvl="3" indent="0" algn="r" rtl="0">
              <a:spcBef>
                <a:spcPts val="0"/>
              </a:spcBef>
              <a:buNone/>
              <a:defRPr sz="1320" b="0" i="0" u="none" strike="noStrike" cap="none">
                <a:solidFill>
                  <a:srgbClr val="888888"/>
                </a:solidFill>
                <a:latin typeface="Calibri"/>
                <a:ea typeface="Calibri"/>
                <a:cs typeface="Calibri"/>
                <a:sym typeface="Calibri"/>
              </a:defRPr>
            </a:lvl4pPr>
            <a:lvl5pPr marL="0" marR="0" lvl="4" indent="0" algn="r" rtl="0">
              <a:spcBef>
                <a:spcPts val="0"/>
              </a:spcBef>
              <a:buNone/>
              <a:defRPr sz="1320" b="0" i="0" u="none" strike="noStrike" cap="none">
                <a:solidFill>
                  <a:srgbClr val="888888"/>
                </a:solidFill>
                <a:latin typeface="Calibri"/>
                <a:ea typeface="Calibri"/>
                <a:cs typeface="Calibri"/>
                <a:sym typeface="Calibri"/>
              </a:defRPr>
            </a:lvl5pPr>
            <a:lvl6pPr marL="0" marR="0" lvl="5" indent="0" algn="r" rtl="0">
              <a:spcBef>
                <a:spcPts val="0"/>
              </a:spcBef>
              <a:buNone/>
              <a:defRPr sz="1320" b="0" i="0" u="none" strike="noStrike" cap="none">
                <a:solidFill>
                  <a:srgbClr val="888888"/>
                </a:solidFill>
                <a:latin typeface="Calibri"/>
                <a:ea typeface="Calibri"/>
                <a:cs typeface="Calibri"/>
                <a:sym typeface="Calibri"/>
              </a:defRPr>
            </a:lvl6pPr>
            <a:lvl7pPr marL="0" marR="0" lvl="6" indent="0" algn="r" rtl="0">
              <a:spcBef>
                <a:spcPts val="0"/>
              </a:spcBef>
              <a:buNone/>
              <a:defRPr sz="1320" b="0" i="0" u="none" strike="noStrike" cap="none">
                <a:solidFill>
                  <a:srgbClr val="888888"/>
                </a:solidFill>
                <a:latin typeface="Calibri"/>
                <a:ea typeface="Calibri"/>
                <a:cs typeface="Calibri"/>
                <a:sym typeface="Calibri"/>
              </a:defRPr>
            </a:lvl7pPr>
            <a:lvl8pPr marL="0" marR="0" lvl="7" indent="0" algn="r" rtl="0">
              <a:spcBef>
                <a:spcPts val="0"/>
              </a:spcBef>
              <a:buNone/>
              <a:defRPr sz="1320" b="0" i="0" u="none" strike="noStrike" cap="none">
                <a:solidFill>
                  <a:srgbClr val="888888"/>
                </a:solidFill>
                <a:latin typeface="Calibri"/>
                <a:ea typeface="Calibri"/>
                <a:cs typeface="Calibri"/>
                <a:sym typeface="Calibri"/>
              </a:defRPr>
            </a:lvl8pPr>
            <a:lvl9pPr marL="0" marR="0" lvl="8" indent="0" algn="r" rtl="0">
              <a:spcBef>
                <a:spcPts val="0"/>
              </a:spcBef>
              <a:buNone/>
              <a:defRPr sz="1320" b="0" i="0" u="none" strike="noStrike" cap="none">
                <a:solidFill>
                  <a:srgbClr val="888888"/>
                </a:solidFill>
                <a:latin typeface="Calibri"/>
                <a:ea typeface="Calibri"/>
                <a:cs typeface="Calibri"/>
                <a:sym typeface="Calibri"/>
              </a:defRPr>
            </a:lvl9pPr>
          </a:lstStyle>
          <a:p>
            <a:pPr>
              <a:defRPr/>
            </a:pPr>
            <a:fld id="{EB1CB48F-56D5-4B48-AE23-5667BEA3CB19}" type="slidenum">
              <a:rPr lang="en-US"/>
              <a:pPr>
                <a:defRPr/>
              </a:pPr>
              <a:t>‹#›</a:t>
            </a:fld>
            <a:endParaRPr/>
          </a:p>
        </p:txBody>
      </p:sp>
    </p:spTree>
    <p:extLst>
      <p:ext uri="{BB962C8B-B14F-4D97-AF65-F5344CB8AC3E}">
        <p14:creationId xmlns:p14="http://schemas.microsoft.com/office/powerpoint/2010/main" val="836436924"/>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7" r:id="rId4"/>
    <p:sldLayoutId id="2147483678" r:id="rId5"/>
    <p:sldLayoutId id="2147483679" r:id="rId6"/>
    <p:sldLayoutId id="2147483680" r:id="rId7"/>
    <p:sldLayoutId id="2147483681" r:id="rId8"/>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54C2011-CB98-AFD9-F4E2-001DA0B74FF5}"/>
              </a:ext>
            </a:extLst>
          </p:cNvPr>
          <p:cNvSpPr txBox="1">
            <a:spLocks/>
          </p:cNvSpPr>
          <p:nvPr/>
        </p:nvSpPr>
        <p:spPr>
          <a:xfrm>
            <a:off x="1717675" y="2857889"/>
            <a:ext cx="8756650" cy="147002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04000"/>
              </a:lnSpc>
            </a:pPr>
            <a:r>
              <a:rPr lang="en-US" sz="3600" b="1" dirty="0">
                <a:latin typeface="Inter" panose="02000503000000020004"/>
                <a:ea typeface="Inter Bold" pitchFamily="34" charset="-122"/>
                <a:cs typeface="Inter Bold" pitchFamily="34" charset="-120"/>
              </a:rPr>
              <a:t>Parallel DSCNN–Vision Transformer Fusion with Regularized ELM for Brain Tumor MRI Classification</a:t>
            </a:r>
          </a:p>
          <a:p>
            <a:pPr algn="ctr">
              <a:lnSpc>
                <a:spcPct val="104000"/>
              </a:lnSpc>
            </a:pPr>
            <a:endParaRPr lang="en-US" sz="3600" b="1" dirty="0">
              <a:latin typeface="Inter" panose="02000503000000020004"/>
              <a:ea typeface="Inter Bold" pitchFamily="34" charset="-122"/>
              <a:cs typeface="Inter Bold" pitchFamily="34" charset="-120"/>
            </a:endParaRPr>
          </a:p>
          <a:p>
            <a:pPr algn="ctr">
              <a:lnSpc>
                <a:spcPct val="104000"/>
              </a:lnSpc>
            </a:pPr>
            <a:endParaRPr lang="en-US" sz="3600" dirty="0">
              <a:latin typeface="Inter" panose="02000503000000020004"/>
            </a:endParaRPr>
          </a:p>
        </p:txBody>
      </p:sp>
      <p:graphicFrame>
        <p:nvGraphicFramePr>
          <p:cNvPr id="5" name="Table 4">
            <a:extLst>
              <a:ext uri="{FF2B5EF4-FFF2-40B4-BE49-F238E27FC236}">
                <a16:creationId xmlns:a16="http://schemas.microsoft.com/office/drawing/2014/main" id="{8ECC85B1-9514-FF5D-718F-D4ACA763BDE9}"/>
              </a:ext>
            </a:extLst>
          </p:cNvPr>
          <p:cNvGraphicFramePr>
            <a:graphicFrameLocks noGrp="1"/>
          </p:cNvGraphicFramePr>
          <p:nvPr>
            <p:extLst>
              <p:ext uri="{D42A27DB-BD31-4B8C-83A1-F6EECF244321}">
                <p14:modId xmlns:p14="http://schemas.microsoft.com/office/powerpoint/2010/main" val="454361841"/>
              </p:ext>
            </p:extLst>
          </p:nvPr>
        </p:nvGraphicFramePr>
        <p:xfrm>
          <a:off x="2787029" y="4664764"/>
          <a:ext cx="6617942" cy="1828800"/>
        </p:xfrm>
        <a:graphic>
          <a:graphicData uri="http://schemas.openxmlformats.org/drawingml/2006/table">
            <a:tbl>
              <a:tblPr firstRow="1" bandRow="1">
                <a:tableStyleId>{5C22544A-7EE6-4342-B048-85BDC9FD1C3A}</a:tableStyleId>
              </a:tblPr>
              <a:tblGrid>
                <a:gridCol w="3308971">
                  <a:extLst>
                    <a:ext uri="{9D8B030D-6E8A-4147-A177-3AD203B41FA5}">
                      <a16:colId xmlns:a16="http://schemas.microsoft.com/office/drawing/2014/main" val="807286084"/>
                    </a:ext>
                  </a:extLst>
                </a:gridCol>
                <a:gridCol w="3308971">
                  <a:extLst>
                    <a:ext uri="{9D8B030D-6E8A-4147-A177-3AD203B41FA5}">
                      <a16:colId xmlns:a16="http://schemas.microsoft.com/office/drawing/2014/main" val="4193412117"/>
                    </a:ext>
                  </a:extLst>
                </a:gridCol>
              </a:tblGrid>
              <a:tr h="294861">
                <a:tc>
                  <a:txBody>
                    <a:bodyPr/>
                    <a:lstStyle/>
                    <a:p>
                      <a:pPr algn="ctr"/>
                      <a:r>
                        <a:rPr lang="en-IN" dirty="0"/>
                        <a:t>NAME</a:t>
                      </a:r>
                    </a:p>
                  </a:txBody>
                  <a:tcPr/>
                </a:tc>
                <a:tc>
                  <a:txBody>
                    <a:bodyPr/>
                    <a:lstStyle/>
                    <a:p>
                      <a:pPr algn="ctr"/>
                      <a:r>
                        <a:rPr lang="en-IN" dirty="0"/>
                        <a:t>ROLLNO</a:t>
                      </a:r>
                    </a:p>
                  </a:txBody>
                  <a:tcPr/>
                </a:tc>
                <a:extLst>
                  <a:ext uri="{0D108BD9-81ED-4DB2-BD59-A6C34878D82A}">
                    <a16:rowId xmlns:a16="http://schemas.microsoft.com/office/drawing/2014/main" val="1400941101"/>
                  </a:ext>
                </a:extLst>
              </a:tr>
              <a:tr h="294861">
                <a:tc>
                  <a:txBody>
                    <a:bodyPr/>
                    <a:lstStyle/>
                    <a:p>
                      <a:r>
                        <a:rPr lang="en-IN" dirty="0"/>
                        <a:t>VYSHNASRI</a:t>
                      </a:r>
                    </a:p>
                  </a:txBody>
                  <a:tcPr/>
                </a:tc>
                <a:tc>
                  <a:txBody>
                    <a:bodyPr/>
                    <a:lstStyle/>
                    <a:p>
                      <a:r>
                        <a:rPr lang="en-IN" dirty="0"/>
                        <a:t>24BD1A05AT</a:t>
                      </a:r>
                    </a:p>
                  </a:txBody>
                  <a:tcPr/>
                </a:tc>
                <a:extLst>
                  <a:ext uri="{0D108BD9-81ED-4DB2-BD59-A6C34878D82A}">
                    <a16:rowId xmlns:a16="http://schemas.microsoft.com/office/drawing/2014/main" val="735961753"/>
                  </a:ext>
                </a:extLst>
              </a:tr>
              <a:tr h="294861">
                <a:tc>
                  <a:txBody>
                    <a:bodyPr/>
                    <a:lstStyle/>
                    <a:p>
                      <a:r>
                        <a:rPr lang="en-IN" dirty="0"/>
                        <a:t>KRISHNA ADITHYA</a:t>
                      </a:r>
                    </a:p>
                  </a:txBody>
                  <a:tcPr/>
                </a:tc>
                <a:tc>
                  <a:txBody>
                    <a:bodyPr/>
                    <a:lstStyle/>
                    <a:p>
                      <a:r>
                        <a:rPr lang="en-IN" dirty="0"/>
                        <a:t>24BD1A05AX</a:t>
                      </a:r>
                    </a:p>
                  </a:txBody>
                  <a:tcPr/>
                </a:tc>
                <a:extLst>
                  <a:ext uri="{0D108BD9-81ED-4DB2-BD59-A6C34878D82A}">
                    <a16:rowId xmlns:a16="http://schemas.microsoft.com/office/drawing/2014/main" val="3781030592"/>
                  </a:ext>
                </a:extLst>
              </a:tr>
              <a:tr h="294861">
                <a:tc>
                  <a:txBody>
                    <a:bodyPr/>
                    <a:lstStyle/>
                    <a:p>
                      <a:r>
                        <a:rPr lang="en-IN" dirty="0"/>
                        <a:t>ALAHARI DEDEEPYA</a:t>
                      </a:r>
                    </a:p>
                  </a:txBody>
                  <a:tcPr/>
                </a:tc>
                <a:tc>
                  <a:txBody>
                    <a:bodyPr/>
                    <a:lstStyle/>
                    <a:p>
                      <a:r>
                        <a:rPr lang="en-IN" dirty="0"/>
                        <a:t>24BD1A05A3</a:t>
                      </a:r>
                    </a:p>
                  </a:txBody>
                  <a:tcPr/>
                </a:tc>
                <a:extLst>
                  <a:ext uri="{0D108BD9-81ED-4DB2-BD59-A6C34878D82A}">
                    <a16:rowId xmlns:a16="http://schemas.microsoft.com/office/drawing/2014/main" val="705263914"/>
                  </a:ext>
                </a:extLst>
              </a:tr>
              <a:tr h="294861">
                <a:tc>
                  <a:txBody>
                    <a:bodyPr/>
                    <a:lstStyle/>
                    <a:p>
                      <a:r>
                        <a:rPr lang="en-IN" dirty="0"/>
                        <a:t>LALITHYA</a:t>
                      </a:r>
                    </a:p>
                  </a:txBody>
                  <a:tcPr/>
                </a:tc>
                <a:tc>
                  <a:txBody>
                    <a:bodyPr/>
                    <a:lstStyle/>
                    <a:p>
                      <a:r>
                        <a:rPr lang="en-IN" dirty="0"/>
                        <a:t>24BD1A05AE</a:t>
                      </a:r>
                    </a:p>
                  </a:txBody>
                  <a:tcPr/>
                </a:tc>
                <a:extLst>
                  <a:ext uri="{0D108BD9-81ED-4DB2-BD59-A6C34878D82A}">
                    <a16:rowId xmlns:a16="http://schemas.microsoft.com/office/drawing/2014/main" val="1808317699"/>
                  </a:ext>
                </a:extLst>
              </a:tr>
              <a:tr h="294861">
                <a:tc>
                  <a:txBody>
                    <a:bodyPr/>
                    <a:lstStyle/>
                    <a:p>
                      <a:r>
                        <a:rPr lang="en-IN" dirty="0"/>
                        <a:t>SHARATH</a:t>
                      </a:r>
                    </a:p>
                  </a:txBody>
                  <a:tcPr/>
                </a:tc>
                <a:tc>
                  <a:txBody>
                    <a:bodyPr/>
                    <a:lstStyle/>
                    <a:p>
                      <a:r>
                        <a:rPr lang="en-IN" dirty="0"/>
                        <a:t>24BD1A05AR</a:t>
                      </a:r>
                    </a:p>
                  </a:txBody>
                  <a:tcPr/>
                </a:tc>
                <a:extLst>
                  <a:ext uri="{0D108BD9-81ED-4DB2-BD59-A6C34878D82A}">
                    <a16:rowId xmlns:a16="http://schemas.microsoft.com/office/drawing/2014/main" val="102809102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35C396-E5AA-5F3E-5FBF-666A87E4A1AC}"/>
              </a:ext>
            </a:extLst>
          </p:cNvPr>
          <p:cNvSpPr txBox="1"/>
          <p:nvPr/>
        </p:nvSpPr>
        <p:spPr>
          <a:xfrm>
            <a:off x="1378226" y="589722"/>
            <a:ext cx="6864627" cy="707886"/>
          </a:xfrm>
          <a:prstGeom prst="rect">
            <a:avLst/>
          </a:prstGeom>
          <a:noFill/>
        </p:spPr>
        <p:txBody>
          <a:bodyPr wrap="square" rtlCol="0">
            <a:spAutoFit/>
          </a:bodyPr>
          <a:lstStyle/>
          <a:p>
            <a:r>
              <a:rPr lang="en-IN" sz="4000" b="1" dirty="0">
                <a:latin typeface="Inter" panose="02000503000000020004"/>
              </a:rPr>
              <a:t>Abstract</a:t>
            </a:r>
          </a:p>
        </p:txBody>
      </p:sp>
      <p:sp>
        <p:nvSpPr>
          <p:cNvPr id="4" name="TextBox 3">
            <a:extLst>
              <a:ext uri="{FF2B5EF4-FFF2-40B4-BE49-F238E27FC236}">
                <a16:creationId xmlns:a16="http://schemas.microsoft.com/office/drawing/2014/main" id="{B3967A74-23AB-0ECE-0960-A61C9672D8FD}"/>
              </a:ext>
            </a:extLst>
          </p:cNvPr>
          <p:cNvSpPr txBox="1"/>
          <p:nvPr/>
        </p:nvSpPr>
        <p:spPr>
          <a:xfrm>
            <a:off x="1378226" y="1761102"/>
            <a:ext cx="9190382" cy="3970318"/>
          </a:xfrm>
          <a:prstGeom prst="rect">
            <a:avLst/>
          </a:prstGeom>
          <a:noFill/>
        </p:spPr>
        <p:txBody>
          <a:bodyPr wrap="square">
            <a:spAutoFit/>
          </a:bodyPr>
          <a:lstStyle/>
          <a:p>
            <a:pPr algn="just"/>
            <a:r>
              <a:rPr lang="en-IN" dirty="0">
                <a:latin typeface="Inter" panose="02000503000000020004"/>
              </a:rPr>
              <a:t>Brain </a:t>
            </a:r>
            <a:r>
              <a:rPr lang="en-IN" dirty="0" err="1">
                <a:latin typeface="Inter" panose="02000503000000020004"/>
              </a:rPr>
              <a:t>tumor</a:t>
            </a:r>
            <a:r>
              <a:rPr lang="en-IN" dirty="0">
                <a:latin typeface="Inter" panose="02000503000000020004"/>
              </a:rPr>
              <a:t> diagnosis from MRI images is a critical and time-sensitive task that requires accurate and reliable interpretation. Existing CNN-based models effectively extract local spatial features but have limited capability to capture global contextual information, while Vision Transformers model global dependencies but may overlook fine local details. We propose a Parallel PDSCNN Vision Transformer Fusion framework integrated with Regularized Ridge Extreme Learning Machine (RRELM) for efficient and explainable brain </a:t>
            </a:r>
            <a:r>
              <a:rPr lang="en-IN" dirty="0" err="1">
                <a:latin typeface="Inter" panose="02000503000000020004"/>
              </a:rPr>
              <a:t>tumor</a:t>
            </a:r>
            <a:r>
              <a:rPr lang="en-IN" dirty="0">
                <a:latin typeface="Inter" panose="02000503000000020004"/>
              </a:rPr>
              <a:t> classification. The MRI image is simultaneously processed by the PDSCNN branch for local feature extraction and the Vision Transformer branch for global contextual learning. The extracted features are fused and classified using RRELM, improving classification accuracy with reduced computational complexity. The framework integrates Grad-CAM and Vision Transformer Attention Maps to provide visual explanations by highlighting </a:t>
            </a:r>
            <a:r>
              <a:rPr lang="en-IN" dirty="0" err="1">
                <a:latin typeface="Inter" panose="02000503000000020004"/>
              </a:rPr>
              <a:t>tumor</a:t>
            </a:r>
            <a:r>
              <a:rPr lang="en-IN" dirty="0">
                <a:latin typeface="Inter" panose="02000503000000020004"/>
              </a:rPr>
              <a:t> regions and attention patterns influencing the prediction. The proposed model classifies MRI images into Glioma, Meningioma, Pituitary </a:t>
            </a:r>
            <a:r>
              <a:rPr lang="en-IN" dirty="0" err="1">
                <a:latin typeface="Inter" panose="02000503000000020004"/>
              </a:rPr>
              <a:t>Tumor</a:t>
            </a:r>
            <a:r>
              <a:rPr lang="en-IN" dirty="0">
                <a:latin typeface="Inter" panose="02000503000000020004"/>
              </a:rPr>
              <a:t>, and No </a:t>
            </a:r>
            <a:r>
              <a:rPr lang="en-IN" dirty="0" err="1">
                <a:latin typeface="Inter" panose="02000503000000020004"/>
              </a:rPr>
              <a:t>Tumor</a:t>
            </a:r>
            <a:r>
              <a:rPr lang="en-IN" dirty="0">
                <a:latin typeface="Inter" panose="02000503000000020004"/>
              </a:rPr>
              <a:t>, providing an accurate, efficient, and transparent computer-aided diagnostic solution for clinical decision support.</a:t>
            </a:r>
          </a:p>
        </p:txBody>
      </p:sp>
    </p:spTree>
    <p:extLst>
      <p:ext uri="{BB962C8B-B14F-4D97-AF65-F5344CB8AC3E}">
        <p14:creationId xmlns:p14="http://schemas.microsoft.com/office/powerpoint/2010/main" val="508511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CB135-43AD-AEE1-D04D-242592E1E4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320C11-8510-B825-E91F-3DD39EC57707}"/>
              </a:ext>
            </a:extLst>
          </p:cNvPr>
          <p:cNvSpPr txBox="1"/>
          <p:nvPr/>
        </p:nvSpPr>
        <p:spPr>
          <a:xfrm>
            <a:off x="1283538" y="477430"/>
            <a:ext cx="5932458" cy="707886"/>
          </a:xfrm>
          <a:prstGeom prst="rect">
            <a:avLst/>
          </a:prstGeom>
          <a:noFill/>
        </p:spPr>
        <p:txBody>
          <a:bodyPr wrap="square">
            <a:spAutoFit/>
          </a:bodyPr>
          <a:lstStyle/>
          <a:p>
            <a:r>
              <a:rPr lang="en-IN" sz="4000" b="1" dirty="0">
                <a:latin typeface="Inter" panose="02000503000000020004" pitchFamily="2" charset="0"/>
                <a:ea typeface="Inter" panose="02000503000000020004" pitchFamily="2" charset="0"/>
              </a:rPr>
              <a:t>Base Paper</a:t>
            </a:r>
          </a:p>
        </p:txBody>
      </p:sp>
      <p:sp>
        <p:nvSpPr>
          <p:cNvPr id="7" name="TextBox 6">
            <a:extLst>
              <a:ext uri="{FF2B5EF4-FFF2-40B4-BE49-F238E27FC236}">
                <a16:creationId xmlns:a16="http://schemas.microsoft.com/office/drawing/2014/main" id="{BCD17CBE-E3BF-F430-6B2D-B32F14F3D723}"/>
              </a:ext>
            </a:extLst>
          </p:cNvPr>
          <p:cNvSpPr txBox="1"/>
          <p:nvPr/>
        </p:nvSpPr>
        <p:spPr>
          <a:xfrm>
            <a:off x="1283538" y="1973821"/>
            <a:ext cx="9624924" cy="1831271"/>
          </a:xfrm>
          <a:prstGeom prst="rect">
            <a:avLst/>
          </a:prstGeom>
          <a:noFill/>
        </p:spPr>
        <p:txBody>
          <a:bodyPr wrap="square">
            <a:spAutoFit/>
          </a:bodyPr>
          <a:lstStyle/>
          <a:p>
            <a:pPr algn="just"/>
            <a:endParaRPr lang="en-US" dirty="0">
              <a:latin typeface="Inter" panose="02000503000000020004" pitchFamily="2" charset="0"/>
              <a:ea typeface="Inter" panose="02000503000000020004" pitchFamily="2" charset="0"/>
            </a:endParaRPr>
          </a:p>
          <a:p>
            <a:pPr algn="just"/>
            <a:r>
              <a:rPr lang="en-US" sz="2300" b="1" dirty="0">
                <a:latin typeface="Inter" panose="02000503000000020004" pitchFamily="2" charset="0"/>
                <a:ea typeface="Inter" panose="02000503000000020004" pitchFamily="2" charset="0"/>
              </a:rPr>
              <a:t>Core Idea:</a:t>
            </a:r>
          </a:p>
          <a:p>
            <a:pPr algn="just"/>
            <a:r>
              <a:rPr lang="en-US" dirty="0">
                <a:latin typeface="Inter" panose="02000503000000020004" pitchFamily="2" charset="0"/>
                <a:ea typeface="Inter" panose="02000503000000020004" pitchFamily="2" charset="0"/>
              </a:rPr>
              <a:t>Uses </a:t>
            </a:r>
            <a:r>
              <a:rPr lang="en-US" b="1" dirty="0">
                <a:latin typeface="Inter" panose="02000503000000020004" pitchFamily="2" charset="0"/>
                <a:ea typeface="Inter" panose="02000503000000020004" pitchFamily="2" charset="0"/>
              </a:rPr>
              <a:t>Parallel Depth Wise Separable CNN (PDSCNN) </a:t>
            </a:r>
            <a:r>
              <a:rPr lang="en-US" dirty="0">
                <a:latin typeface="Inter" panose="02000503000000020004" pitchFamily="2" charset="0"/>
                <a:ea typeface="Inter" panose="02000503000000020004" pitchFamily="2" charset="0"/>
              </a:rPr>
              <a:t>as the feature extraction network. Employs </a:t>
            </a:r>
            <a:r>
              <a:rPr lang="en-US" b="1" dirty="0">
                <a:latin typeface="Inter" panose="02000503000000020004" pitchFamily="2" charset="0"/>
                <a:ea typeface="Inter" panose="02000503000000020004" pitchFamily="2" charset="0"/>
              </a:rPr>
              <a:t>Regularized Extreme Learning Machine (RRELM)</a:t>
            </a:r>
            <a:r>
              <a:rPr lang="en-US" dirty="0">
                <a:latin typeface="Inter" panose="02000503000000020004" pitchFamily="2" charset="0"/>
                <a:ea typeface="Inter" panose="02000503000000020004" pitchFamily="2" charset="0"/>
              </a:rPr>
              <a:t> as the classifier. Focuses on efficient extraction of local spatial features. Achieves high classification accuracy with low computational complexity.</a:t>
            </a:r>
          </a:p>
          <a:p>
            <a:pPr algn="just"/>
            <a:r>
              <a:rPr lang="en-US" dirty="0">
                <a:latin typeface="Inter" panose="02000503000000020004" pitchFamily="2" charset="0"/>
                <a:ea typeface="Inter" panose="02000503000000020004" pitchFamily="2" charset="0"/>
              </a:rPr>
              <a:t>Suitable for lightweight medical image classification.</a:t>
            </a:r>
          </a:p>
        </p:txBody>
      </p:sp>
      <p:sp>
        <p:nvSpPr>
          <p:cNvPr id="2" name="TextBox 1">
            <a:extLst>
              <a:ext uri="{FF2B5EF4-FFF2-40B4-BE49-F238E27FC236}">
                <a16:creationId xmlns:a16="http://schemas.microsoft.com/office/drawing/2014/main" id="{8A6F248A-9F64-7A36-AE64-6A5C1BA26E52}"/>
              </a:ext>
            </a:extLst>
          </p:cNvPr>
          <p:cNvSpPr txBox="1"/>
          <p:nvPr/>
        </p:nvSpPr>
        <p:spPr>
          <a:xfrm>
            <a:off x="1283538" y="4109193"/>
            <a:ext cx="9417592" cy="2215991"/>
          </a:xfrm>
          <a:prstGeom prst="rect">
            <a:avLst/>
          </a:prstGeom>
          <a:noFill/>
        </p:spPr>
        <p:txBody>
          <a:bodyPr wrap="square" rtlCol="0">
            <a:spAutoFit/>
          </a:bodyPr>
          <a:lstStyle/>
          <a:p>
            <a:r>
              <a:rPr lang="en-IN" sz="2300" b="1" dirty="0">
                <a:latin typeface="Inter" panose="02000503000000020004"/>
              </a:rPr>
              <a:t>Why it’s a good fit as your base paper:</a:t>
            </a:r>
          </a:p>
          <a:p>
            <a:pPr marL="285750" lvl="0" indent="-285750" algn="just">
              <a:buFont typeface="Arial" panose="020B0604020202020204" pitchFamily="34" charset="0"/>
              <a:buChar char="•"/>
            </a:pPr>
            <a:r>
              <a:rPr lang="en-IN" dirty="0">
                <a:latin typeface="Inter" panose="02000503000000020004"/>
              </a:rPr>
              <a:t>Lightweight CNN architecture </a:t>
            </a:r>
          </a:p>
          <a:p>
            <a:pPr marL="285750" lvl="0" indent="-285750" algn="just">
              <a:buFont typeface="Arial" panose="020B0604020202020204" pitchFamily="34" charset="0"/>
              <a:buChar char="•"/>
            </a:pPr>
            <a:r>
              <a:rPr lang="en-IN" dirty="0">
                <a:latin typeface="Inter" panose="02000503000000020004"/>
              </a:rPr>
              <a:t>Efficient RRELM classifier </a:t>
            </a:r>
          </a:p>
          <a:p>
            <a:pPr marL="285750" lvl="0" indent="-285750" algn="just">
              <a:buFont typeface="Arial" panose="020B0604020202020204" pitchFamily="34" charset="0"/>
              <a:buChar char="•"/>
            </a:pPr>
            <a:r>
              <a:rPr lang="en-IN" dirty="0">
                <a:latin typeface="Inter" panose="02000503000000020004"/>
              </a:rPr>
              <a:t>Explainable AI framework </a:t>
            </a:r>
          </a:p>
          <a:p>
            <a:pPr marL="285750" lvl="0" indent="-285750" algn="just">
              <a:buFont typeface="Arial" panose="020B0604020202020204" pitchFamily="34" charset="0"/>
              <a:buChar char="•"/>
            </a:pPr>
            <a:r>
              <a:rPr lang="en-IN" dirty="0">
                <a:latin typeface="Inter" panose="02000503000000020004"/>
              </a:rPr>
              <a:t>High classification accuracy </a:t>
            </a:r>
          </a:p>
          <a:p>
            <a:pPr marL="285750" lvl="0" indent="-285750" algn="just">
              <a:buFont typeface="Arial" panose="020B0604020202020204" pitchFamily="34" charset="0"/>
              <a:buChar char="•"/>
            </a:pPr>
            <a:r>
              <a:rPr lang="en-IN" dirty="0">
                <a:latin typeface="Inter" panose="02000503000000020004"/>
              </a:rPr>
              <a:t>Suitable foundation for further enhancement</a:t>
            </a:r>
          </a:p>
          <a:p>
            <a:endParaRPr lang="en-IN" sz="2500" b="1" dirty="0">
              <a:latin typeface="Inter" panose="02000503000000020004"/>
            </a:endParaRPr>
          </a:p>
        </p:txBody>
      </p:sp>
      <p:sp>
        <p:nvSpPr>
          <p:cNvPr id="5" name="TextBox 4">
            <a:extLst>
              <a:ext uri="{FF2B5EF4-FFF2-40B4-BE49-F238E27FC236}">
                <a16:creationId xmlns:a16="http://schemas.microsoft.com/office/drawing/2014/main" id="{E685155E-B830-4C51-4205-54B504C9A4D7}"/>
              </a:ext>
            </a:extLst>
          </p:cNvPr>
          <p:cNvSpPr txBox="1"/>
          <p:nvPr/>
        </p:nvSpPr>
        <p:spPr>
          <a:xfrm>
            <a:off x="1283538" y="1360106"/>
            <a:ext cx="9251940" cy="646331"/>
          </a:xfrm>
          <a:prstGeom prst="rect">
            <a:avLst/>
          </a:prstGeom>
          <a:noFill/>
        </p:spPr>
        <p:txBody>
          <a:bodyPr wrap="square" rtlCol="0">
            <a:spAutoFit/>
          </a:bodyPr>
          <a:lstStyle/>
          <a:p>
            <a:pPr algn="just"/>
            <a:r>
              <a:rPr lang="en-IN" dirty="0">
                <a:latin typeface="Inter" panose="02000503000000020004"/>
              </a:rPr>
              <a:t>A Hybrid Explainable Model Based on Advanced Machine Learning and Deep Learning Models for Classifying Brain </a:t>
            </a:r>
            <a:r>
              <a:rPr lang="en-IN" dirty="0" err="1">
                <a:latin typeface="Inter" panose="02000503000000020004"/>
              </a:rPr>
              <a:t>Tumors</a:t>
            </a:r>
            <a:r>
              <a:rPr lang="en-IN" dirty="0">
                <a:latin typeface="Inter" panose="02000503000000020004"/>
              </a:rPr>
              <a:t> Using MRI Images (Scientific Reports, Nature, 2025)</a:t>
            </a:r>
          </a:p>
        </p:txBody>
      </p:sp>
    </p:spTree>
    <p:extLst>
      <p:ext uri="{BB962C8B-B14F-4D97-AF65-F5344CB8AC3E}">
        <p14:creationId xmlns:p14="http://schemas.microsoft.com/office/powerpoint/2010/main" val="3197027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3489D4-48D5-DDE8-D4FD-781AB68CA274}"/>
              </a:ext>
            </a:extLst>
          </p:cNvPr>
          <p:cNvSpPr txBox="1"/>
          <p:nvPr/>
        </p:nvSpPr>
        <p:spPr>
          <a:xfrm>
            <a:off x="844826" y="332942"/>
            <a:ext cx="4810539" cy="984885"/>
          </a:xfrm>
          <a:prstGeom prst="rect">
            <a:avLst/>
          </a:prstGeom>
          <a:noFill/>
        </p:spPr>
        <p:txBody>
          <a:bodyPr wrap="square" rtlCol="0">
            <a:spAutoFit/>
          </a:bodyPr>
          <a:lstStyle/>
          <a:p>
            <a:r>
              <a:rPr lang="en-IN" sz="4000" b="1" dirty="0">
                <a:latin typeface="Inter" panose="02000503000000020004"/>
              </a:rPr>
              <a:t>Literature Survey</a:t>
            </a:r>
          </a:p>
          <a:p>
            <a:endParaRPr lang="en-IN" dirty="0"/>
          </a:p>
        </p:txBody>
      </p:sp>
      <p:graphicFrame>
        <p:nvGraphicFramePr>
          <p:cNvPr id="4" name="Table 3">
            <a:extLst>
              <a:ext uri="{FF2B5EF4-FFF2-40B4-BE49-F238E27FC236}">
                <a16:creationId xmlns:a16="http://schemas.microsoft.com/office/drawing/2014/main" id="{C8CD10EA-EE85-778B-8782-BC3AF74A34C5}"/>
              </a:ext>
            </a:extLst>
          </p:cNvPr>
          <p:cNvGraphicFramePr>
            <a:graphicFrameLocks noGrp="1"/>
          </p:cNvGraphicFramePr>
          <p:nvPr>
            <p:extLst>
              <p:ext uri="{D42A27DB-BD31-4B8C-83A1-F6EECF244321}">
                <p14:modId xmlns:p14="http://schemas.microsoft.com/office/powerpoint/2010/main" val="2288644288"/>
              </p:ext>
            </p:extLst>
          </p:nvPr>
        </p:nvGraphicFramePr>
        <p:xfrm>
          <a:off x="904460" y="1084705"/>
          <a:ext cx="10581861" cy="2546268"/>
        </p:xfrm>
        <a:graphic>
          <a:graphicData uri="http://schemas.openxmlformats.org/drawingml/2006/table">
            <a:tbl>
              <a:tblPr firstRow="1" bandRow="1">
                <a:tableStyleId>{5C22544A-7EE6-4342-B048-85BDC9FD1C3A}</a:tableStyleId>
              </a:tblPr>
              <a:tblGrid>
                <a:gridCol w="2723322">
                  <a:extLst>
                    <a:ext uri="{9D8B030D-6E8A-4147-A177-3AD203B41FA5}">
                      <a16:colId xmlns:a16="http://schemas.microsoft.com/office/drawing/2014/main" val="1079566924"/>
                    </a:ext>
                  </a:extLst>
                </a:gridCol>
                <a:gridCol w="2292626">
                  <a:extLst>
                    <a:ext uri="{9D8B030D-6E8A-4147-A177-3AD203B41FA5}">
                      <a16:colId xmlns:a16="http://schemas.microsoft.com/office/drawing/2014/main" val="1903340361"/>
                    </a:ext>
                  </a:extLst>
                </a:gridCol>
                <a:gridCol w="2650434">
                  <a:extLst>
                    <a:ext uri="{9D8B030D-6E8A-4147-A177-3AD203B41FA5}">
                      <a16:colId xmlns:a16="http://schemas.microsoft.com/office/drawing/2014/main" val="1206636643"/>
                    </a:ext>
                  </a:extLst>
                </a:gridCol>
                <a:gridCol w="2915479">
                  <a:extLst>
                    <a:ext uri="{9D8B030D-6E8A-4147-A177-3AD203B41FA5}">
                      <a16:colId xmlns:a16="http://schemas.microsoft.com/office/drawing/2014/main" val="3402375317"/>
                    </a:ext>
                  </a:extLst>
                </a:gridCol>
              </a:tblGrid>
              <a:tr h="40379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Author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Method</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Contribution</a:t>
                      </a:r>
                    </a:p>
                    <a:p>
                      <a:endParaRPr lang="en-IN" dirty="0"/>
                    </a:p>
                  </a:txBody>
                  <a:tcPr/>
                </a:tc>
                <a:tc>
                  <a:txBody>
                    <a:bodyPr/>
                    <a:lstStyle/>
                    <a:p>
                      <a:r>
                        <a:rPr lang="en-IN" dirty="0"/>
                        <a:t>Limitation</a:t>
                      </a:r>
                    </a:p>
                  </a:txBody>
                  <a:tcPr/>
                </a:tc>
                <a:extLst>
                  <a:ext uri="{0D108BD9-81ED-4DB2-BD59-A6C34878D82A}">
                    <a16:rowId xmlns:a16="http://schemas.microsoft.com/office/drawing/2014/main" val="1292586198"/>
                  </a:ext>
                </a:extLst>
              </a:tr>
              <a:tr h="64829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Deepak &amp; Ameer (2019)</a:t>
                      </a:r>
                    </a:p>
                    <a:p>
                      <a:pPr algn="l"/>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Transfer Learning (</a:t>
                      </a:r>
                      <a:r>
                        <a:rPr lang="en-IN" dirty="0" err="1"/>
                        <a:t>GoogLeNet</a:t>
                      </a:r>
                      <a:r>
                        <a:rPr lang="en-IN" dirty="0"/>
                        <a:t>)</a:t>
                      </a:r>
                    </a:p>
                    <a:p>
                      <a:pPr algn="l"/>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High MRI classification accuracy</a:t>
                      </a:r>
                    </a:p>
                    <a:p>
                      <a:pPr algn="l"/>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Captures limited global context</a:t>
                      </a:r>
                    </a:p>
                    <a:p>
                      <a:pPr algn="l"/>
                      <a:endParaRPr lang="en-IN" dirty="0"/>
                    </a:p>
                  </a:txBody>
                  <a:tcPr/>
                </a:tc>
                <a:extLst>
                  <a:ext uri="{0D108BD9-81ED-4DB2-BD59-A6C34878D82A}">
                    <a16:rowId xmlns:a16="http://schemas.microsoft.com/office/drawing/2014/main" val="1167542732"/>
                  </a:ext>
                </a:extLst>
              </a:tr>
              <a:tr h="64829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err="1"/>
                        <a:t>Dosovitskiy</a:t>
                      </a:r>
                      <a:r>
                        <a:rPr lang="en-IN" dirty="0"/>
                        <a:t> et al. (2021)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Vision Transformer</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Global contextual learning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Requires large datasets</a:t>
                      </a:r>
                    </a:p>
                  </a:txBody>
                  <a:tcPr/>
                </a:tc>
                <a:extLst>
                  <a:ext uri="{0D108BD9-81ED-4DB2-BD59-A6C34878D82A}">
                    <a16:rowId xmlns:a16="http://schemas.microsoft.com/office/drawing/2014/main" val="2391852639"/>
                  </a:ext>
                </a:extLst>
              </a:tr>
              <a:tr h="64829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err="1"/>
                        <a:t>Nahiduzzaman</a:t>
                      </a:r>
                      <a:r>
                        <a:rPr lang="en-IN" dirty="0"/>
                        <a:t> et al. (2025)</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PDSCNN + RRELM + SHAP</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Lightweight explainable framework</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Uses only CNN features and SHAP explanation</a:t>
                      </a:r>
                    </a:p>
                  </a:txBody>
                  <a:tcPr/>
                </a:tc>
                <a:extLst>
                  <a:ext uri="{0D108BD9-81ED-4DB2-BD59-A6C34878D82A}">
                    <a16:rowId xmlns:a16="http://schemas.microsoft.com/office/drawing/2014/main" val="2764343064"/>
                  </a:ext>
                </a:extLst>
              </a:tr>
            </a:tbl>
          </a:graphicData>
        </a:graphic>
      </p:graphicFrame>
      <p:sp>
        <p:nvSpPr>
          <p:cNvPr id="8" name="TextBox 7">
            <a:extLst>
              <a:ext uri="{FF2B5EF4-FFF2-40B4-BE49-F238E27FC236}">
                <a16:creationId xmlns:a16="http://schemas.microsoft.com/office/drawing/2014/main" id="{FB8453C1-3D18-37ED-FA75-3E92B69C0DEF}"/>
              </a:ext>
            </a:extLst>
          </p:cNvPr>
          <p:cNvSpPr txBox="1"/>
          <p:nvPr/>
        </p:nvSpPr>
        <p:spPr>
          <a:xfrm>
            <a:off x="904460" y="3796364"/>
            <a:ext cx="6096000" cy="446276"/>
          </a:xfrm>
          <a:prstGeom prst="rect">
            <a:avLst/>
          </a:prstGeom>
          <a:noFill/>
        </p:spPr>
        <p:txBody>
          <a:bodyPr wrap="square">
            <a:spAutoFit/>
          </a:bodyPr>
          <a:lstStyle/>
          <a:p>
            <a:r>
              <a:rPr lang="en-IN" sz="2300" b="1" dirty="0">
                <a:latin typeface="Inter" panose="02000503000000020004"/>
              </a:rPr>
              <a:t>Research Gap</a:t>
            </a:r>
          </a:p>
        </p:txBody>
      </p:sp>
      <p:sp>
        <p:nvSpPr>
          <p:cNvPr id="10" name="TextBox 9">
            <a:extLst>
              <a:ext uri="{FF2B5EF4-FFF2-40B4-BE49-F238E27FC236}">
                <a16:creationId xmlns:a16="http://schemas.microsoft.com/office/drawing/2014/main" id="{C87BCACE-C840-B7AE-62B1-8E9B8B2651EB}"/>
              </a:ext>
            </a:extLst>
          </p:cNvPr>
          <p:cNvSpPr txBox="1"/>
          <p:nvPr/>
        </p:nvSpPr>
        <p:spPr>
          <a:xfrm>
            <a:off x="844826" y="4242640"/>
            <a:ext cx="6096000" cy="2308324"/>
          </a:xfrm>
          <a:prstGeom prst="rect">
            <a:avLst/>
          </a:prstGeom>
          <a:noFill/>
        </p:spPr>
        <p:txBody>
          <a:bodyPr wrap="square">
            <a:spAutoFit/>
          </a:bodyPr>
          <a:lstStyle/>
          <a:p>
            <a:pPr marL="285750" lvl="0" indent="-285750" algn="just">
              <a:buFont typeface="Arial" panose="020B0604020202020204" pitchFamily="34" charset="0"/>
              <a:buChar char="•"/>
            </a:pPr>
            <a:r>
              <a:rPr lang="en-IN" sz="1800" dirty="0">
                <a:latin typeface="Inter" panose="02000503000000020004"/>
              </a:rPr>
              <a:t>CNNs capture only local spatial features. </a:t>
            </a:r>
          </a:p>
          <a:p>
            <a:pPr marL="285750" lvl="0" indent="-285750" algn="just">
              <a:buFont typeface="Arial" panose="020B0604020202020204" pitchFamily="34" charset="0"/>
              <a:buChar char="•"/>
            </a:pPr>
            <a:r>
              <a:rPr lang="en-IN" sz="1800" dirty="0">
                <a:latin typeface="Inter" panose="02000503000000020004"/>
              </a:rPr>
              <a:t>Vision Transformers alone are computationally expensive. </a:t>
            </a:r>
          </a:p>
          <a:p>
            <a:pPr marL="285750" lvl="0" indent="-285750" algn="just">
              <a:buFont typeface="Arial" panose="020B0604020202020204" pitchFamily="34" charset="0"/>
              <a:buChar char="•"/>
            </a:pPr>
            <a:r>
              <a:rPr lang="en-IN" sz="1800" dirty="0">
                <a:latin typeface="Inter" panose="02000503000000020004"/>
              </a:rPr>
              <a:t>Existing hybrid models mainly focus on improving accuracy. </a:t>
            </a:r>
          </a:p>
          <a:p>
            <a:pPr marL="285750" lvl="0" indent="-285750" algn="just">
              <a:buFont typeface="Arial" panose="020B0604020202020204" pitchFamily="34" charset="0"/>
              <a:buChar char="•"/>
            </a:pPr>
            <a:r>
              <a:rPr lang="en-IN" sz="1800" dirty="0">
                <a:latin typeface="Inter" panose="02000503000000020004"/>
              </a:rPr>
              <a:t>Most methods use dense neural classifiers. </a:t>
            </a:r>
          </a:p>
          <a:p>
            <a:pPr marL="285750" lvl="0" indent="-285750" algn="just">
              <a:buFont typeface="Arial" panose="020B0604020202020204" pitchFamily="34" charset="0"/>
              <a:buChar char="•"/>
            </a:pPr>
            <a:r>
              <a:rPr lang="en-IN" sz="1800" dirty="0">
                <a:latin typeface="Inter" panose="02000503000000020004"/>
              </a:rPr>
              <a:t>Explainability is generally limited to a single visualization technique. </a:t>
            </a:r>
          </a:p>
          <a:p>
            <a:pPr marL="285750" lvl="0" indent="-285750" algn="just">
              <a:buFont typeface="Arial" panose="020B0604020202020204" pitchFamily="34" charset="0"/>
              <a:buChar char="•"/>
            </a:pPr>
            <a:r>
              <a:rPr lang="en-IN" sz="1800" dirty="0">
                <a:latin typeface="Inter" panose="02000503000000020004"/>
              </a:rPr>
              <a:t>Few frameworks combine PDSCNN, Vision Transformer, RRELM, Grad-CAM, and Attention Maps in one architecture.</a:t>
            </a:r>
          </a:p>
        </p:txBody>
      </p:sp>
    </p:spTree>
    <p:extLst>
      <p:ext uri="{BB962C8B-B14F-4D97-AF65-F5344CB8AC3E}">
        <p14:creationId xmlns:p14="http://schemas.microsoft.com/office/powerpoint/2010/main" val="2656412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C137C6-111F-5CD8-3E55-7C089EAE18F6}"/>
              </a:ext>
            </a:extLst>
          </p:cNvPr>
          <p:cNvSpPr txBox="1"/>
          <p:nvPr/>
        </p:nvSpPr>
        <p:spPr>
          <a:xfrm>
            <a:off x="1179443" y="885448"/>
            <a:ext cx="6096000" cy="707886"/>
          </a:xfrm>
          <a:prstGeom prst="rect">
            <a:avLst/>
          </a:prstGeom>
          <a:noFill/>
        </p:spPr>
        <p:txBody>
          <a:bodyPr wrap="square">
            <a:spAutoFit/>
          </a:bodyPr>
          <a:lstStyle/>
          <a:p>
            <a:r>
              <a:rPr lang="en-IN" sz="4000" b="1" dirty="0">
                <a:latin typeface="Inter" panose="02000503000000020004"/>
              </a:rPr>
              <a:t>Existing System</a:t>
            </a:r>
          </a:p>
        </p:txBody>
      </p:sp>
      <p:sp>
        <p:nvSpPr>
          <p:cNvPr id="9" name="TextBox 8">
            <a:extLst>
              <a:ext uri="{FF2B5EF4-FFF2-40B4-BE49-F238E27FC236}">
                <a16:creationId xmlns:a16="http://schemas.microsoft.com/office/drawing/2014/main" id="{FE479622-CCFC-E743-5FB6-C351BE1E535B}"/>
              </a:ext>
            </a:extLst>
          </p:cNvPr>
          <p:cNvSpPr txBox="1"/>
          <p:nvPr/>
        </p:nvSpPr>
        <p:spPr>
          <a:xfrm>
            <a:off x="1179443" y="1858377"/>
            <a:ext cx="9660835" cy="2585323"/>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Inter" panose="02000503000000020004"/>
              </a:rPr>
              <a:t>Current brain </a:t>
            </a:r>
            <a:r>
              <a:rPr lang="en-IN" dirty="0" err="1">
                <a:latin typeface="Inter" panose="02000503000000020004"/>
              </a:rPr>
              <a:t>tumor</a:t>
            </a:r>
            <a:r>
              <a:rPr lang="en-IN" dirty="0">
                <a:latin typeface="Inter" panose="02000503000000020004"/>
              </a:rPr>
              <a:t> diagnostic systems primarily utilize Convolutional Neural Networks (CNNs), particularly Parallel </a:t>
            </a:r>
            <a:r>
              <a:rPr lang="en-IN" dirty="0" err="1">
                <a:latin typeface="Inter" panose="02000503000000020004"/>
              </a:rPr>
              <a:t>Depthwise</a:t>
            </a:r>
            <a:r>
              <a:rPr lang="en-IN" dirty="0">
                <a:latin typeface="Inter" panose="02000503000000020004"/>
              </a:rPr>
              <a:t> Separable CNN (PDSCNN) architectures, for automatic MRI image classification. </a:t>
            </a:r>
          </a:p>
          <a:p>
            <a:pPr marL="285750" indent="-285750" algn="just">
              <a:buFont typeface="Arial" panose="020B0604020202020204" pitchFamily="34" charset="0"/>
              <a:buChar char="•"/>
            </a:pPr>
            <a:r>
              <a:rPr lang="en-IN" dirty="0">
                <a:latin typeface="Inter" panose="02000503000000020004"/>
              </a:rPr>
              <a:t>These models focus on extracting local spatial features to identify brain </a:t>
            </a:r>
            <a:r>
              <a:rPr lang="en-IN" dirty="0" err="1">
                <a:latin typeface="Inter" panose="02000503000000020004"/>
              </a:rPr>
              <a:t>tumor</a:t>
            </a:r>
            <a:r>
              <a:rPr lang="en-IN" dirty="0">
                <a:latin typeface="Inter" panose="02000503000000020004"/>
              </a:rPr>
              <a:t> categories from MRI scans. Publicly available benchmark MRI datasets containing Glioma, Meningioma, Pituitary </a:t>
            </a:r>
            <a:r>
              <a:rPr lang="en-IN" dirty="0" err="1">
                <a:latin typeface="Inter" panose="02000503000000020004"/>
              </a:rPr>
              <a:t>Tumor</a:t>
            </a:r>
            <a:r>
              <a:rPr lang="en-IN" dirty="0">
                <a:latin typeface="Inter" panose="02000503000000020004"/>
              </a:rPr>
              <a:t>, and No </a:t>
            </a:r>
            <a:r>
              <a:rPr lang="en-IN" dirty="0" err="1">
                <a:latin typeface="Inter" panose="02000503000000020004"/>
              </a:rPr>
              <a:t>Tumor</a:t>
            </a:r>
            <a:r>
              <a:rPr lang="en-IN" dirty="0">
                <a:latin typeface="Inter" panose="02000503000000020004"/>
              </a:rPr>
              <a:t> images are commonly used for training and evaluation. </a:t>
            </a:r>
          </a:p>
          <a:p>
            <a:pPr marL="285750" indent="-285750" algn="just">
              <a:buFont typeface="Arial" panose="020B0604020202020204" pitchFamily="34" charset="0"/>
              <a:buChar char="•"/>
            </a:pPr>
            <a:r>
              <a:rPr lang="en-IN" dirty="0">
                <a:latin typeface="Inter" panose="02000503000000020004"/>
              </a:rPr>
              <a:t>Existing frameworks employ Regularized Ridge Extreme Learning Machine (RRELM) as the classifier and SHAP for providing basic model interpretability by identifying feature contributions during prediction.</a:t>
            </a:r>
          </a:p>
        </p:txBody>
      </p:sp>
    </p:spTree>
    <p:extLst>
      <p:ext uri="{BB962C8B-B14F-4D97-AF65-F5344CB8AC3E}">
        <p14:creationId xmlns:p14="http://schemas.microsoft.com/office/powerpoint/2010/main" val="2724299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C3D432-91EA-2B22-7465-3D229C6ED344}"/>
              </a:ext>
            </a:extLst>
          </p:cNvPr>
          <p:cNvSpPr txBox="1"/>
          <p:nvPr/>
        </p:nvSpPr>
        <p:spPr>
          <a:xfrm>
            <a:off x="1159563" y="971585"/>
            <a:ext cx="7421218" cy="707886"/>
          </a:xfrm>
          <a:prstGeom prst="rect">
            <a:avLst/>
          </a:prstGeom>
          <a:noFill/>
        </p:spPr>
        <p:txBody>
          <a:bodyPr wrap="square">
            <a:spAutoFit/>
          </a:bodyPr>
          <a:lstStyle/>
          <a:p>
            <a:r>
              <a:rPr lang="en-IN" sz="4000" b="1" dirty="0">
                <a:latin typeface="Inter" panose="02000503000000020004"/>
              </a:rPr>
              <a:t>Advantages of Existing System</a:t>
            </a:r>
          </a:p>
        </p:txBody>
      </p:sp>
      <p:sp>
        <p:nvSpPr>
          <p:cNvPr id="5" name="TextBox 4">
            <a:extLst>
              <a:ext uri="{FF2B5EF4-FFF2-40B4-BE49-F238E27FC236}">
                <a16:creationId xmlns:a16="http://schemas.microsoft.com/office/drawing/2014/main" id="{B7F43172-C768-6928-FBF9-D9A9FE6CF548}"/>
              </a:ext>
            </a:extLst>
          </p:cNvPr>
          <p:cNvSpPr txBox="1"/>
          <p:nvPr/>
        </p:nvSpPr>
        <p:spPr>
          <a:xfrm>
            <a:off x="1159563" y="1951672"/>
            <a:ext cx="9422297" cy="1477328"/>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Inter" panose="02000503000000020004"/>
              </a:rPr>
              <a:t>Achieves high classification accuracy of 99% with a lightweight PDSCNN architecture. </a:t>
            </a:r>
          </a:p>
          <a:p>
            <a:pPr marL="342900" lvl="0" indent="-342900" algn="just">
              <a:buFont typeface="Arial" panose="020B0604020202020204" pitchFamily="34" charset="0"/>
              <a:buChar char="•"/>
            </a:pPr>
            <a:r>
              <a:rPr lang="en-IN" dirty="0">
                <a:latin typeface="Inter" panose="02000503000000020004"/>
              </a:rPr>
              <a:t>Reduces computational complexity through </a:t>
            </a:r>
            <a:r>
              <a:rPr lang="en-IN" dirty="0" err="1">
                <a:latin typeface="Inter" panose="02000503000000020004"/>
              </a:rPr>
              <a:t>Depthwise</a:t>
            </a:r>
            <a:r>
              <a:rPr lang="en-IN" dirty="0">
                <a:latin typeface="Inter" panose="02000503000000020004"/>
              </a:rPr>
              <a:t> Separable Convolutions. </a:t>
            </a:r>
          </a:p>
          <a:p>
            <a:pPr marL="342900" lvl="0" indent="-342900" algn="just">
              <a:buFont typeface="Arial" panose="020B0604020202020204" pitchFamily="34" charset="0"/>
              <a:buChar char="•"/>
            </a:pPr>
            <a:r>
              <a:rPr lang="en-IN" dirty="0">
                <a:latin typeface="Inter" panose="02000503000000020004"/>
              </a:rPr>
              <a:t>RRELM provides faster training and inference compared to conventional neural classifiers. </a:t>
            </a:r>
          </a:p>
          <a:p>
            <a:pPr marL="342900" lvl="0" indent="-342900" algn="just">
              <a:buFont typeface="Arial" panose="020B0604020202020204" pitchFamily="34" charset="0"/>
              <a:buChar char="•"/>
            </a:pPr>
            <a:r>
              <a:rPr lang="en-IN" dirty="0">
                <a:latin typeface="Inter" panose="02000503000000020004"/>
              </a:rPr>
              <a:t>SHAP improves model transparency by explaining feature contributions. </a:t>
            </a:r>
          </a:p>
          <a:p>
            <a:pPr marL="342900" lvl="0" indent="-342900" algn="just">
              <a:buFont typeface="Arial" panose="020B0604020202020204" pitchFamily="34" charset="0"/>
              <a:buChar char="•"/>
            </a:pPr>
            <a:r>
              <a:rPr lang="en-IN" dirty="0">
                <a:latin typeface="Inter" panose="02000503000000020004"/>
              </a:rPr>
              <a:t>Suitable for efficient computer-aided brain </a:t>
            </a:r>
            <a:r>
              <a:rPr lang="en-IN" dirty="0" err="1">
                <a:latin typeface="Inter" panose="02000503000000020004"/>
              </a:rPr>
              <a:t>tumor</a:t>
            </a:r>
            <a:r>
              <a:rPr lang="en-IN" dirty="0">
                <a:latin typeface="Inter" panose="02000503000000020004"/>
              </a:rPr>
              <a:t> diagnosis.</a:t>
            </a:r>
          </a:p>
        </p:txBody>
      </p:sp>
    </p:spTree>
    <p:extLst>
      <p:ext uri="{BB962C8B-B14F-4D97-AF65-F5344CB8AC3E}">
        <p14:creationId xmlns:p14="http://schemas.microsoft.com/office/powerpoint/2010/main" val="2405554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672AD6-4681-7B68-CB01-B0DF5AE25424}"/>
              </a:ext>
            </a:extLst>
          </p:cNvPr>
          <p:cNvSpPr txBox="1"/>
          <p:nvPr/>
        </p:nvSpPr>
        <p:spPr>
          <a:xfrm>
            <a:off x="1199319" y="984839"/>
            <a:ext cx="8077201" cy="707886"/>
          </a:xfrm>
          <a:prstGeom prst="rect">
            <a:avLst/>
          </a:prstGeom>
          <a:noFill/>
        </p:spPr>
        <p:txBody>
          <a:bodyPr wrap="square">
            <a:spAutoFit/>
          </a:bodyPr>
          <a:lstStyle/>
          <a:p>
            <a:r>
              <a:rPr lang="en-IN" sz="4000" b="1" dirty="0">
                <a:latin typeface="Inter" panose="02000503000000020004"/>
              </a:rPr>
              <a:t>Disadvantages of Existing System</a:t>
            </a:r>
          </a:p>
        </p:txBody>
      </p:sp>
      <p:sp>
        <p:nvSpPr>
          <p:cNvPr id="5" name="TextBox 4">
            <a:extLst>
              <a:ext uri="{FF2B5EF4-FFF2-40B4-BE49-F238E27FC236}">
                <a16:creationId xmlns:a16="http://schemas.microsoft.com/office/drawing/2014/main" id="{B657BE2A-9813-CABA-DC9B-191996D32859}"/>
              </a:ext>
            </a:extLst>
          </p:cNvPr>
          <p:cNvSpPr txBox="1"/>
          <p:nvPr/>
        </p:nvSpPr>
        <p:spPr>
          <a:xfrm>
            <a:off x="1199319" y="1911700"/>
            <a:ext cx="8971723" cy="1477328"/>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Inter" panose="02000503000000020004"/>
              </a:rPr>
              <a:t>Extracts only local spatial features and lacks global contextual understanding. </a:t>
            </a:r>
          </a:p>
          <a:p>
            <a:pPr marL="342900" lvl="0" indent="-342900" algn="just">
              <a:buFont typeface="Arial" panose="020B0604020202020204" pitchFamily="34" charset="0"/>
              <a:buChar char="•"/>
            </a:pPr>
            <a:r>
              <a:rPr lang="en-IN" dirty="0">
                <a:latin typeface="Inter" panose="02000503000000020004"/>
              </a:rPr>
              <a:t>Does not incorporate Vision Transformer for long-range dependency learning. </a:t>
            </a:r>
          </a:p>
          <a:p>
            <a:pPr marL="342900" lvl="0" indent="-342900" algn="just">
              <a:buFont typeface="Arial" panose="020B0604020202020204" pitchFamily="34" charset="0"/>
              <a:buChar char="•"/>
            </a:pPr>
            <a:r>
              <a:rPr lang="en-IN" dirty="0">
                <a:latin typeface="Inter" panose="02000503000000020004"/>
              </a:rPr>
              <a:t>Explainability is limited to SHAP and does not provide spatial heatmap visualization. </a:t>
            </a:r>
          </a:p>
          <a:p>
            <a:pPr marL="342900" lvl="0" indent="-342900" algn="just">
              <a:buFont typeface="Arial" panose="020B0604020202020204" pitchFamily="34" charset="0"/>
              <a:buChar char="•"/>
            </a:pPr>
            <a:r>
              <a:rPr lang="en-IN" dirty="0">
                <a:latin typeface="Inter" panose="02000503000000020004"/>
              </a:rPr>
              <a:t>Hybrid feature learning is absent, reducing representation capability. </a:t>
            </a:r>
          </a:p>
          <a:p>
            <a:pPr marL="342900" lvl="0" indent="-342900" algn="just">
              <a:buFont typeface="Arial" panose="020B0604020202020204" pitchFamily="34" charset="0"/>
              <a:buChar char="•"/>
            </a:pPr>
            <a:r>
              <a:rPr lang="en-IN" dirty="0">
                <a:latin typeface="Inter" panose="02000503000000020004"/>
              </a:rPr>
              <a:t>Performance may decrease for complex MRI images with subtle </a:t>
            </a:r>
            <a:r>
              <a:rPr lang="en-IN" dirty="0" err="1">
                <a:latin typeface="Inter" panose="02000503000000020004"/>
              </a:rPr>
              <a:t>tumor</a:t>
            </a:r>
            <a:r>
              <a:rPr lang="en-IN" dirty="0">
                <a:latin typeface="Inter" panose="02000503000000020004"/>
              </a:rPr>
              <a:t> variations.</a:t>
            </a:r>
          </a:p>
        </p:txBody>
      </p:sp>
    </p:spTree>
    <p:extLst>
      <p:ext uri="{BB962C8B-B14F-4D97-AF65-F5344CB8AC3E}">
        <p14:creationId xmlns:p14="http://schemas.microsoft.com/office/powerpoint/2010/main" val="3997246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908-DB36-2B8E-6B7C-EEA451CF4FD7}"/>
              </a:ext>
            </a:extLst>
          </p:cNvPr>
          <p:cNvSpPr>
            <a:spLocks noGrp="1"/>
          </p:cNvSpPr>
          <p:nvPr>
            <p:ph type="title"/>
          </p:nvPr>
        </p:nvSpPr>
        <p:spPr>
          <a:xfrm>
            <a:off x="947530" y="274638"/>
            <a:ext cx="10634870" cy="1143000"/>
          </a:xfrm>
        </p:spPr>
        <p:txBody>
          <a:bodyPr>
            <a:normAutofit/>
          </a:bodyPr>
          <a:lstStyle/>
          <a:p>
            <a:pPr algn="l"/>
            <a:r>
              <a:rPr lang="en-US" sz="4000" b="1" dirty="0">
                <a:latin typeface="Inter" panose="02000503000000020004"/>
              </a:rPr>
              <a:t>Proposed System</a:t>
            </a:r>
            <a:endParaRPr lang="en-IN" sz="4000" dirty="0">
              <a:latin typeface="Inter" panose="02000503000000020004"/>
            </a:endParaRPr>
          </a:p>
        </p:txBody>
      </p:sp>
      <p:sp>
        <p:nvSpPr>
          <p:cNvPr id="3" name="Text Placeholder 2">
            <a:extLst>
              <a:ext uri="{FF2B5EF4-FFF2-40B4-BE49-F238E27FC236}">
                <a16:creationId xmlns:a16="http://schemas.microsoft.com/office/drawing/2014/main" id="{826BD6B3-16E2-54C0-2670-47ABD4F4683E}"/>
              </a:ext>
            </a:extLst>
          </p:cNvPr>
          <p:cNvSpPr>
            <a:spLocks noGrp="1"/>
          </p:cNvSpPr>
          <p:nvPr>
            <p:ph type="body" idx="1"/>
          </p:nvPr>
        </p:nvSpPr>
        <p:spPr>
          <a:xfrm>
            <a:off x="609600" y="1600203"/>
            <a:ext cx="10535478" cy="4525963"/>
          </a:xfrm>
        </p:spPr>
        <p:txBody>
          <a:bodyPr>
            <a:normAutofit/>
          </a:bodyPr>
          <a:lstStyle/>
          <a:p>
            <a:pPr>
              <a:buSzPct val="100000"/>
            </a:pPr>
            <a:r>
              <a:rPr lang="en-IN" sz="1800" dirty="0">
                <a:latin typeface="Inter" panose="02000503000000020004"/>
              </a:rPr>
              <a:t>The proposed framework is an end-to-end hybrid deep learning model for accurate and explainable brain </a:t>
            </a:r>
            <a:r>
              <a:rPr lang="en-IN" sz="1800" dirty="0" err="1">
                <a:latin typeface="Inter" panose="02000503000000020004"/>
              </a:rPr>
              <a:t>tumor</a:t>
            </a:r>
            <a:r>
              <a:rPr lang="en-IN" sz="1800" dirty="0">
                <a:latin typeface="Inter" panose="02000503000000020004"/>
              </a:rPr>
              <a:t> classification from MRI images.</a:t>
            </a:r>
          </a:p>
          <a:p>
            <a:pPr lvl="0">
              <a:buSzPct val="100000"/>
            </a:pPr>
            <a:r>
              <a:rPr lang="en-IN" sz="1800" dirty="0">
                <a:latin typeface="Inter" panose="02000503000000020004"/>
              </a:rPr>
              <a:t>MRI Preprocessing: MRI images are resized, normalized, and augmented to improve image quality and model robustness. </a:t>
            </a:r>
          </a:p>
          <a:p>
            <a:pPr lvl="0">
              <a:buSzPct val="100000"/>
            </a:pPr>
            <a:r>
              <a:rPr lang="en-IN" sz="1800" dirty="0">
                <a:latin typeface="Inter" panose="02000503000000020004"/>
              </a:rPr>
              <a:t>Parallel Feature Extraction: The input MRI image is simultaneously processed by a Parallel CNN to extract local spatial features and a Vision Transformer (</a:t>
            </a:r>
            <a:r>
              <a:rPr lang="en-IN" sz="1800" dirty="0" err="1">
                <a:latin typeface="Inter" panose="02000503000000020004"/>
              </a:rPr>
              <a:t>ViT</a:t>
            </a:r>
            <a:r>
              <a:rPr lang="en-IN" sz="1800" dirty="0">
                <a:latin typeface="Inter" panose="02000503000000020004"/>
              </a:rPr>
              <a:t>) to capture global contextual information. </a:t>
            </a:r>
          </a:p>
          <a:p>
            <a:pPr lvl="0">
              <a:buSzPct val="100000"/>
            </a:pPr>
            <a:r>
              <a:rPr lang="en-IN" sz="1800" dirty="0">
                <a:latin typeface="Inter" panose="02000503000000020004"/>
              </a:rPr>
              <a:t>Feature Fusion: The complementary features from both branches are fused to create a rich hybrid feature representation. </a:t>
            </a:r>
          </a:p>
          <a:p>
            <a:pPr lvl="0">
              <a:buSzPct val="100000"/>
            </a:pPr>
            <a:r>
              <a:rPr lang="en-IN" sz="1800" dirty="0">
                <a:latin typeface="Inter" panose="02000503000000020004"/>
              </a:rPr>
              <a:t>Brain </a:t>
            </a:r>
            <a:r>
              <a:rPr lang="en-IN" sz="1800" dirty="0" err="1">
                <a:latin typeface="Inter" panose="02000503000000020004"/>
              </a:rPr>
              <a:t>Tumor</a:t>
            </a:r>
            <a:r>
              <a:rPr lang="en-IN" sz="1800" dirty="0">
                <a:latin typeface="Inter" panose="02000503000000020004"/>
              </a:rPr>
              <a:t> Classification: The fused features are classified using Regularized Ridge Extreme Learning Machine (RRELM) into Glioma, Meningioma, Pituitary </a:t>
            </a:r>
            <a:r>
              <a:rPr lang="en-IN" sz="1800" dirty="0" err="1">
                <a:latin typeface="Inter" panose="02000503000000020004"/>
              </a:rPr>
              <a:t>Tumor</a:t>
            </a:r>
            <a:r>
              <a:rPr lang="en-IN" sz="1800" dirty="0">
                <a:latin typeface="Inter" panose="02000503000000020004"/>
              </a:rPr>
              <a:t>, or No </a:t>
            </a:r>
            <a:r>
              <a:rPr lang="en-IN" sz="1800" dirty="0" err="1">
                <a:latin typeface="Inter" panose="02000503000000020004"/>
              </a:rPr>
              <a:t>Tumor</a:t>
            </a:r>
            <a:r>
              <a:rPr lang="en-IN" sz="1800" dirty="0">
                <a:latin typeface="Inter" panose="02000503000000020004"/>
              </a:rPr>
              <a:t>. </a:t>
            </a:r>
          </a:p>
          <a:p>
            <a:pPr lvl="0">
              <a:buSzPct val="100000"/>
            </a:pPr>
            <a:r>
              <a:rPr lang="en-IN" sz="1800" dirty="0">
                <a:latin typeface="Inter" panose="02000503000000020004"/>
              </a:rPr>
              <a:t>Explainable AI: Grad-CAM and Vision Transformer Attention Maps visualize the regions and attention patterns responsible for the prediction, providing transparent clinical decision support. </a:t>
            </a:r>
          </a:p>
          <a:p>
            <a:pPr>
              <a:buSzPct val="100000"/>
            </a:pPr>
            <a:endParaRPr lang="en-IN" sz="1800" dirty="0"/>
          </a:p>
        </p:txBody>
      </p:sp>
    </p:spTree>
    <p:extLst>
      <p:ext uri="{BB962C8B-B14F-4D97-AF65-F5344CB8AC3E}">
        <p14:creationId xmlns:p14="http://schemas.microsoft.com/office/powerpoint/2010/main" val="1215902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015C-0645-D862-3809-02FF3C0870E2}"/>
              </a:ext>
            </a:extLst>
          </p:cNvPr>
          <p:cNvSpPr>
            <a:spLocks noGrp="1"/>
          </p:cNvSpPr>
          <p:nvPr>
            <p:ph type="title"/>
          </p:nvPr>
        </p:nvSpPr>
        <p:spPr>
          <a:xfrm>
            <a:off x="947530" y="274638"/>
            <a:ext cx="10634870" cy="1143000"/>
          </a:xfrm>
        </p:spPr>
        <p:txBody>
          <a:bodyPr>
            <a:normAutofit/>
          </a:bodyPr>
          <a:lstStyle/>
          <a:p>
            <a:pPr algn="l"/>
            <a:r>
              <a:rPr lang="en-IN" sz="4000" b="1" dirty="0">
                <a:latin typeface="Inter"/>
              </a:rPr>
              <a:t>Advantages of Proposed System</a:t>
            </a:r>
          </a:p>
        </p:txBody>
      </p:sp>
      <p:sp>
        <p:nvSpPr>
          <p:cNvPr id="3" name="Text Placeholder 2">
            <a:extLst>
              <a:ext uri="{FF2B5EF4-FFF2-40B4-BE49-F238E27FC236}">
                <a16:creationId xmlns:a16="http://schemas.microsoft.com/office/drawing/2014/main" id="{BED6287F-305A-3C67-3689-8922B4C1A331}"/>
              </a:ext>
            </a:extLst>
          </p:cNvPr>
          <p:cNvSpPr>
            <a:spLocks noGrp="1"/>
          </p:cNvSpPr>
          <p:nvPr>
            <p:ph type="body" idx="1"/>
          </p:nvPr>
        </p:nvSpPr>
        <p:spPr>
          <a:xfrm>
            <a:off x="609599" y="1600203"/>
            <a:ext cx="10972799" cy="4525963"/>
          </a:xfrm>
        </p:spPr>
        <p:txBody>
          <a:bodyPr>
            <a:normAutofit/>
          </a:bodyPr>
          <a:lstStyle/>
          <a:p>
            <a:pPr lvl="0">
              <a:buSzPct val="100000"/>
              <a:buFont typeface="Arial" panose="020B0604020202020204" pitchFamily="34" charset="0"/>
              <a:buChar char="•"/>
            </a:pPr>
            <a:r>
              <a:rPr lang="en-IN" sz="1800" dirty="0">
                <a:latin typeface="Inter"/>
              </a:rPr>
              <a:t>Combines local CNN features and global </a:t>
            </a:r>
            <a:r>
              <a:rPr lang="en-IN" sz="1800" dirty="0" err="1">
                <a:latin typeface="Inter"/>
              </a:rPr>
              <a:t>ViT</a:t>
            </a:r>
            <a:r>
              <a:rPr lang="en-IN" sz="1800" dirty="0">
                <a:latin typeface="Inter"/>
              </a:rPr>
              <a:t> features for improved classification. </a:t>
            </a:r>
          </a:p>
          <a:p>
            <a:pPr lvl="0">
              <a:buSzPct val="100000"/>
              <a:buFont typeface="Arial" panose="020B0604020202020204" pitchFamily="34" charset="0"/>
              <a:buChar char="•"/>
            </a:pPr>
            <a:r>
              <a:rPr lang="en-IN" sz="1800" dirty="0">
                <a:latin typeface="Inter"/>
              </a:rPr>
              <a:t>Hybrid feature fusion enhances the representation of complex brain </a:t>
            </a:r>
            <a:r>
              <a:rPr lang="en-IN" sz="1800" dirty="0" err="1">
                <a:latin typeface="Inter"/>
              </a:rPr>
              <a:t>tumor</a:t>
            </a:r>
            <a:r>
              <a:rPr lang="en-IN" sz="1800" dirty="0">
                <a:latin typeface="Inter"/>
              </a:rPr>
              <a:t> characteristics. </a:t>
            </a:r>
          </a:p>
          <a:p>
            <a:pPr lvl="0">
              <a:buSzPct val="100000"/>
              <a:buFont typeface="Arial" panose="020B0604020202020204" pitchFamily="34" charset="0"/>
              <a:buChar char="•"/>
            </a:pPr>
            <a:r>
              <a:rPr lang="en-IN" sz="1800" dirty="0">
                <a:latin typeface="Inter"/>
              </a:rPr>
              <a:t>RRELM enables fast and computationally efficient multi-class classification. </a:t>
            </a:r>
          </a:p>
          <a:p>
            <a:pPr lvl="0">
              <a:buSzPct val="100000"/>
              <a:buFont typeface="Arial" panose="020B0604020202020204" pitchFamily="34" charset="0"/>
              <a:buChar char="•"/>
            </a:pPr>
            <a:r>
              <a:rPr lang="en-IN" sz="1800" dirty="0">
                <a:latin typeface="Inter"/>
              </a:rPr>
              <a:t>Grad-CAM and Attention Maps provide comprehensive visual explanations for predictions. </a:t>
            </a:r>
          </a:p>
          <a:p>
            <a:pPr lvl="0">
              <a:buSzPct val="100000"/>
              <a:buFont typeface="Arial" panose="020B0604020202020204" pitchFamily="34" charset="0"/>
              <a:buChar char="•"/>
            </a:pPr>
            <a:r>
              <a:rPr lang="en-IN" sz="1800" dirty="0">
                <a:latin typeface="Inter"/>
              </a:rPr>
              <a:t>Improves diagnostic reliability and supports clinicians with transparent AI-assisted decision-making. </a:t>
            </a:r>
          </a:p>
          <a:p>
            <a:pPr lvl="0">
              <a:buSzPct val="100000"/>
            </a:pPr>
            <a:r>
              <a:rPr lang="en-IN" sz="1800" dirty="0">
                <a:latin typeface="Inter"/>
              </a:rPr>
              <a:t>Lightweight architecture suitable for real-world medical imaging applications. </a:t>
            </a:r>
          </a:p>
          <a:p>
            <a:pPr>
              <a:buSzPct val="100000"/>
            </a:pPr>
            <a:endParaRPr lang="en-IN" dirty="0">
              <a:latin typeface="Inter"/>
            </a:endParaRPr>
          </a:p>
        </p:txBody>
      </p:sp>
    </p:spTree>
    <p:extLst>
      <p:ext uri="{BB962C8B-B14F-4D97-AF65-F5344CB8AC3E}">
        <p14:creationId xmlns:p14="http://schemas.microsoft.com/office/powerpoint/2010/main" val="12584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C9AA9-F7E6-4C0D-76E1-433BBBF764C4}"/>
              </a:ext>
            </a:extLst>
          </p:cNvPr>
          <p:cNvSpPr>
            <a:spLocks noGrp="1"/>
          </p:cNvSpPr>
          <p:nvPr>
            <p:ph type="title"/>
          </p:nvPr>
        </p:nvSpPr>
        <p:spPr>
          <a:xfrm>
            <a:off x="947530" y="274638"/>
            <a:ext cx="10634870" cy="1143000"/>
          </a:xfrm>
        </p:spPr>
        <p:txBody>
          <a:bodyPr>
            <a:normAutofit/>
          </a:bodyPr>
          <a:lstStyle/>
          <a:p>
            <a:pPr algn="l"/>
            <a:r>
              <a:rPr lang="en-IN" sz="4000" b="1" dirty="0">
                <a:latin typeface="Inter"/>
              </a:rPr>
              <a:t>Disadvantages of Proposed System</a:t>
            </a:r>
          </a:p>
        </p:txBody>
      </p:sp>
      <p:sp>
        <p:nvSpPr>
          <p:cNvPr id="3" name="Text Placeholder 2">
            <a:extLst>
              <a:ext uri="{FF2B5EF4-FFF2-40B4-BE49-F238E27FC236}">
                <a16:creationId xmlns:a16="http://schemas.microsoft.com/office/drawing/2014/main" id="{FFE9B00B-CD89-82DF-6955-7C12B82780E0}"/>
              </a:ext>
            </a:extLst>
          </p:cNvPr>
          <p:cNvSpPr>
            <a:spLocks noGrp="1"/>
          </p:cNvSpPr>
          <p:nvPr>
            <p:ph type="body" idx="1"/>
          </p:nvPr>
        </p:nvSpPr>
        <p:spPr>
          <a:xfrm>
            <a:off x="795130" y="1639960"/>
            <a:ext cx="10787269" cy="4525963"/>
          </a:xfrm>
        </p:spPr>
        <p:txBody>
          <a:bodyPr>
            <a:normAutofit/>
          </a:bodyPr>
          <a:lstStyle/>
          <a:p>
            <a:pPr lvl="0">
              <a:buSzPct val="100000"/>
            </a:pPr>
            <a:r>
              <a:rPr lang="en-IN" sz="1900" dirty="0">
                <a:latin typeface="Inter"/>
              </a:rPr>
              <a:t>Hybrid CNN–</a:t>
            </a:r>
            <a:r>
              <a:rPr lang="en-IN" sz="1900" dirty="0" err="1">
                <a:latin typeface="Inter"/>
              </a:rPr>
              <a:t>ViT</a:t>
            </a:r>
            <a:r>
              <a:rPr lang="en-IN" sz="1900" dirty="0">
                <a:latin typeface="Inter"/>
              </a:rPr>
              <a:t> architecture increases implementation complexity. </a:t>
            </a:r>
          </a:p>
          <a:p>
            <a:pPr lvl="0">
              <a:buSzPct val="100000"/>
            </a:pPr>
            <a:r>
              <a:rPr lang="en-IN" sz="1900" dirty="0">
                <a:latin typeface="Inter"/>
              </a:rPr>
              <a:t>Vision Transformer branch requires additional computational resources. </a:t>
            </a:r>
          </a:p>
          <a:p>
            <a:pPr lvl="0">
              <a:buSzPct val="100000"/>
            </a:pPr>
            <a:r>
              <a:rPr lang="en-IN" sz="1900" dirty="0">
                <a:latin typeface="Inter"/>
              </a:rPr>
              <a:t>Feature fusion and dual explainability introduce extra inference overhead. </a:t>
            </a:r>
          </a:p>
          <a:p>
            <a:pPr lvl="0">
              <a:buSzPct val="100000"/>
            </a:pPr>
            <a:r>
              <a:rPr lang="en-IN" sz="1900" dirty="0">
                <a:latin typeface="Inter"/>
              </a:rPr>
              <a:t>Performance depends on the availability of high-quality annotated MRI datasets. </a:t>
            </a:r>
          </a:p>
          <a:p>
            <a:pPr lvl="0">
              <a:buSzPct val="100000"/>
            </a:pPr>
            <a:r>
              <a:rPr lang="en-IN" sz="1900" dirty="0">
                <a:latin typeface="Inter"/>
              </a:rPr>
              <a:t>Requires careful tuning of fusion and classifier parameters for optimal performance. </a:t>
            </a:r>
          </a:p>
          <a:p>
            <a:pPr>
              <a:buSzPct val="100000"/>
            </a:pPr>
            <a:endParaRPr lang="en-IN" dirty="0">
              <a:latin typeface="Inter"/>
            </a:endParaRPr>
          </a:p>
        </p:txBody>
      </p:sp>
    </p:spTree>
    <p:extLst>
      <p:ext uri="{BB962C8B-B14F-4D97-AF65-F5344CB8AC3E}">
        <p14:creationId xmlns:p14="http://schemas.microsoft.com/office/powerpoint/2010/main" val="3205521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0DF14-A893-3375-3389-0686865E9CC3}"/>
              </a:ext>
            </a:extLst>
          </p:cNvPr>
          <p:cNvSpPr>
            <a:spLocks noGrp="1"/>
          </p:cNvSpPr>
          <p:nvPr>
            <p:ph type="title"/>
          </p:nvPr>
        </p:nvSpPr>
        <p:spPr/>
        <p:txBody>
          <a:bodyPr>
            <a:normAutofit/>
          </a:bodyPr>
          <a:lstStyle/>
          <a:p>
            <a:pPr algn="l"/>
            <a:r>
              <a:rPr lang="en-IN" sz="4000" b="1" dirty="0">
                <a:latin typeface="Inter" panose="02000503000000020004"/>
              </a:rPr>
              <a:t>Architecture diagram</a:t>
            </a:r>
          </a:p>
        </p:txBody>
      </p:sp>
      <p:pic>
        <p:nvPicPr>
          <p:cNvPr id="6" name="Picture 5">
            <a:extLst>
              <a:ext uri="{FF2B5EF4-FFF2-40B4-BE49-F238E27FC236}">
                <a16:creationId xmlns:a16="http://schemas.microsoft.com/office/drawing/2014/main" id="{C874C4C2-5208-A16D-B326-0A54CCA12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825" y="1251986"/>
            <a:ext cx="9647583" cy="5224019"/>
          </a:xfrm>
          <a:prstGeom prst="rect">
            <a:avLst/>
          </a:prstGeom>
        </p:spPr>
      </p:pic>
    </p:spTree>
    <p:extLst>
      <p:ext uri="{BB962C8B-B14F-4D97-AF65-F5344CB8AC3E}">
        <p14:creationId xmlns:p14="http://schemas.microsoft.com/office/powerpoint/2010/main" val="175487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B3DC7-DC61-FB04-38A7-03C8FEFF0C5E}"/>
              </a:ext>
            </a:extLst>
          </p:cNvPr>
          <p:cNvSpPr>
            <a:spLocks noGrp="1"/>
          </p:cNvSpPr>
          <p:nvPr>
            <p:ph type="title"/>
          </p:nvPr>
        </p:nvSpPr>
        <p:spPr>
          <a:xfrm>
            <a:off x="450574" y="69230"/>
            <a:ext cx="10972800" cy="1143000"/>
          </a:xfrm>
        </p:spPr>
        <p:txBody>
          <a:bodyPr>
            <a:normAutofit/>
          </a:bodyPr>
          <a:lstStyle/>
          <a:p>
            <a:r>
              <a:rPr lang="en-US" sz="4000" b="1" dirty="0">
                <a:latin typeface="Inter" panose="02000503000000020004"/>
              </a:rPr>
              <a:t>Architecture Diagram Explanation</a:t>
            </a:r>
            <a:endParaRPr lang="en-IN" sz="4000" dirty="0">
              <a:latin typeface="Inter" panose="02000503000000020004"/>
            </a:endParaRPr>
          </a:p>
        </p:txBody>
      </p:sp>
      <p:graphicFrame>
        <p:nvGraphicFramePr>
          <p:cNvPr id="7" name="Table 6">
            <a:extLst>
              <a:ext uri="{FF2B5EF4-FFF2-40B4-BE49-F238E27FC236}">
                <a16:creationId xmlns:a16="http://schemas.microsoft.com/office/drawing/2014/main" id="{9C7FDAAF-0946-B8B0-F7EC-97DDA55B0AAE}"/>
              </a:ext>
            </a:extLst>
          </p:cNvPr>
          <p:cNvGraphicFramePr>
            <a:graphicFrameLocks noGrp="1"/>
          </p:cNvGraphicFramePr>
          <p:nvPr>
            <p:extLst>
              <p:ext uri="{D42A27DB-BD31-4B8C-83A1-F6EECF244321}">
                <p14:modId xmlns:p14="http://schemas.microsoft.com/office/powerpoint/2010/main" val="1811351082"/>
              </p:ext>
            </p:extLst>
          </p:nvPr>
        </p:nvGraphicFramePr>
        <p:xfrm>
          <a:off x="1806713" y="1090726"/>
          <a:ext cx="9146209" cy="5552440"/>
        </p:xfrm>
        <a:graphic>
          <a:graphicData uri="http://schemas.openxmlformats.org/drawingml/2006/table">
            <a:tbl>
              <a:tblPr firstRow="1" bandRow="1">
                <a:tableStyleId>{5C22544A-7EE6-4342-B048-85BDC9FD1C3A}</a:tableStyleId>
              </a:tblPr>
              <a:tblGrid>
                <a:gridCol w="651170">
                  <a:extLst>
                    <a:ext uri="{9D8B030D-6E8A-4147-A177-3AD203B41FA5}">
                      <a16:colId xmlns:a16="http://schemas.microsoft.com/office/drawing/2014/main" val="302729982"/>
                    </a:ext>
                  </a:extLst>
                </a:gridCol>
                <a:gridCol w="3684500">
                  <a:extLst>
                    <a:ext uri="{9D8B030D-6E8A-4147-A177-3AD203B41FA5}">
                      <a16:colId xmlns:a16="http://schemas.microsoft.com/office/drawing/2014/main" val="516374170"/>
                    </a:ext>
                  </a:extLst>
                </a:gridCol>
                <a:gridCol w="4810539">
                  <a:extLst>
                    <a:ext uri="{9D8B030D-6E8A-4147-A177-3AD203B41FA5}">
                      <a16:colId xmlns:a16="http://schemas.microsoft.com/office/drawing/2014/main" val="1639645777"/>
                    </a:ext>
                  </a:extLst>
                </a:gridCol>
              </a:tblGrid>
              <a:tr h="370840">
                <a:tc>
                  <a:txBody>
                    <a:bodyPr/>
                    <a:lstStyle/>
                    <a:p>
                      <a:r>
                        <a:rPr lang="en-IN" dirty="0"/>
                        <a:t>                    Step</a:t>
                      </a:r>
                    </a:p>
                  </a:txBody>
                  <a:tcPr/>
                </a:tc>
                <a:tc>
                  <a:txBody>
                    <a:bodyPr/>
                    <a:lstStyle/>
                    <a:p>
                      <a:r>
                        <a:rPr lang="en-IN" dirty="0"/>
                        <a:t>                 Module</a:t>
                      </a:r>
                    </a:p>
                  </a:txBody>
                  <a:tcPr/>
                </a:tc>
                <a:tc>
                  <a:txBody>
                    <a:bodyPr/>
                    <a:lstStyle/>
                    <a:p>
                      <a:r>
                        <a:rPr lang="en-IN" dirty="0"/>
                        <a:t>Description</a:t>
                      </a:r>
                      <a:br>
                        <a:rPr lang="en-IN" dirty="0"/>
                      </a:br>
                      <a:endParaRPr lang="en-IN" dirty="0"/>
                    </a:p>
                  </a:txBody>
                  <a:tcPr/>
                </a:tc>
                <a:extLst>
                  <a:ext uri="{0D108BD9-81ED-4DB2-BD59-A6C34878D82A}">
                    <a16:rowId xmlns:a16="http://schemas.microsoft.com/office/drawing/2014/main" val="4087956423"/>
                  </a:ext>
                </a:extLst>
              </a:tr>
              <a:tr h="370840">
                <a:tc>
                  <a:txBody>
                    <a:bodyPr/>
                    <a:lstStyle/>
                    <a:p>
                      <a:pPr algn="l"/>
                      <a:r>
                        <a:rPr lang="en-IN" sz="1400" dirty="0">
                          <a:latin typeface="Inter" panose="02000503000000020004"/>
                        </a:rPr>
                        <a:t>1</a:t>
                      </a:r>
                    </a:p>
                  </a:txBody>
                  <a:tcPr/>
                </a:tc>
                <a:tc>
                  <a:txBody>
                    <a:bodyPr/>
                    <a:lstStyle/>
                    <a:p>
                      <a:r>
                        <a:rPr lang="en-IN" sz="1400" dirty="0">
                          <a:latin typeface="Inter" panose="02000503000000020004"/>
                        </a:rPr>
                        <a:t>Data Collection</a:t>
                      </a:r>
                    </a:p>
                  </a:txBody>
                  <a:tcPr/>
                </a:tc>
                <a:tc>
                  <a:txBody>
                    <a:bodyPr/>
                    <a:lstStyle/>
                    <a:p>
                      <a:r>
                        <a:rPr lang="en-IN" sz="1400" dirty="0">
                          <a:latin typeface="Inter" panose="02000503000000020004"/>
                        </a:rPr>
                        <a:t>Nick </a:t>
                      </a:r>
                      <a:r>
                        <a:rPr lang="en-IN" sz="1400" dirty="0" err="1">
                          <a:latin typeface="Inter" panose="02000503000000020004"/>
                        </a:rPr>
                        <a:t>parvar</a:t>
                      </a:r>
                      <a:r>
                        <a:rPr lang="en-IN" sz="1400" dirty="0">
                          <a:latin typeface="Inter" panose="02000503000000020004"/>
                        </a:rPr>
                        <a:t> Dataset • Sartaj Dataset</a:t>
                      </a:r>
                    </a:p>
                  </a:txBody>
                  <a:tcPr/>
                </a:tc>
                <a:extLst>
                  <a:ext uri="{0D108BD9-81ED-4DB2-BD59-A6C34878D82A}">
                    <a16:rowId xmlns:a16="http://schemas.microsoft.com/office/drawing/2014/main" val="3446798352"/>
                  </a:ext>
                </a:extLst>
              </a:tr>
              <a:tr h="370840">
                <a:tc>
                  <a:txBody>
                    <a:bodyPr/>
                    <a:lstStyle/>
                    <a:p>
                      <a:pPr algn="l"/>
                      <a:r>
                        <a:rPr lang="en-IN" sz="1400" dirty="0">
                          <a:latin typeface="Inter" panose="02000503000000020004"/>
                        </a:rPr>
                        <a:t>                      2</a:t>
                      </a:r>
                    </a:p>
                  </a:txBody>
                  <a:tcPr/>
                </a:tc>
                <a:tc>
                  <a:txBody>
                    <a:bodyPr/>
                    <a:lstStyle/>
                    <a:p>
                      <a:r>
                        <a:rPr lang="en-IN" sz="1400" dirty="0">
                          <a:latin typeface="Inter" panose="02000503000000020004"/>
                        </a:rPr>
                        <a:t>Data Integration</a:t>
                      </a:r>
                    </a:p>
                  </a:txBody>
                  <a:tcPr/>
                </a:tc>
                <a:tc>
                  <a:txBody>
                    <a:bodyPr/>
                    <a:lstStyle/>
                    <a:p>
                      <a:r>
                        <a:rPr lang="en-US" sz="1400" dirty="0">
                          <a:latin typeface="Inter" panose="02000503000000020004"/>
                        </a:rPr>
                        <a:t>Merge Datasets • Remove Duplicates • Combined Dataset</a:t>
                      </a:r>
                      <a:endParaRPr lang="en-IN" sz="1400" dirty="0">
                        <a:latin typeface="Inter" panose="02000503000000020004"/>
                      </a:endParaRPr>
                    </a:p>
                  </a:txBody>
                  <a:tcPr/>
                </a:tc>
                <a:extLst>
                  <a:ext uri="{0D108BD9-81ED-4DB2-BD59-A6C34878D82A}">
                    <a16:rowId xmlns:a16="http://schemas.microsoft.com/office/drawing/2014/main" val="2640555169"/>
                  </a:ext>
                </a:extLst>
              </a:tr>
              <a:tr h="370840">
                <a:tc>
                  <a:txBody>
                    <a:bodyPr/>
                    <a:lstStyle/>
                    <a:p>
                      <a:pPr algn="l"/>
                      <a:r>
                        <a:rPr lang="en-IN" sz="1400" dirty="0">
                          <a:latin typeface="Inter" panose="02000503000000020004"/>
                        </a:rPr>
                        <a:t>                      3</a:t>
                      </a:r>
                    </a:p>
                  </a:txBody>
                  <a:tcPr/>
                </a:tc>
                <a:tc>
                  <a:txBody>
                    <a:bodyPr/>
                    <a:lstStyle/>
                    <a:p>
                      <a:r>
                        <a:rPr lang="en-IN" sz="1400" dirty="0">
                          <a:latin typeface="Inter" panose="02000503000000020004"/>
                        </a:rPr>
                        <a:t>Preprocessing</a:t>
                      </a:r>
                    </a:p>
                  </a:txBody>
                  <a:tcPr/>
                </a:tc>
                <a:tc>
                  <a:txBody>
                    <a:bodyPr/>
                    <a:lstStyle/>
                    <a:p>
                      <a:r>
                        <a:rPr lang="en-IN" sz="1400" dirty="0">
                          <a:latin typeface="Inter" panose="02000503000000020004"/>
                        </a:rPr>
                        <a:t>CLAHE • Resize (224×224) • Normalization</a:t>
                      </a:r>
                    </a:p>
                  </a:txBody>
                  <a:tcPr/>
                </a:tc>
                <a:extLst>
                  <a:ext uri="{0D108BD9-81ED-4DB2-BD59-A6C34878D82A}">
                    <a16:rowId xmlns:a16="http://schemas.microsoft.com/office/drawing/2014/main" val="1246593309"/>
                  </a:ext>
                </a:extLst>
              </a:tr>
              <a:tr h="370840">
                <a:tc>
                  <a:txBody>
                    <a:bodyPr/>
                    <a:lstStyle/>
                    <a:p>
                      <a:pPr algn="l"/>
                      <a:r>
                        <a:rPr lang="en-IN" sz="1400" dirty="0">
                          <a:latin typeface="Inter" panose="02000503000000020004"/>
                        </a:rPr>
                        <a:t>                      4</a:t>
                      </a:r>
                    </a:p>
                  </a:txBody>
                  <a:tcPr/>
                </a:tc>
                <a:tc>
                  <a:txBody>
                    <a:bodyPr/>
                    <a:lstStyle/>
                    <a:p>
                      <a:r>
                        <a:rPr lang="en-IN" sz="1400" dirty="0">
                          <a:latin typeface="Inter" panose="02000503000000020004"/>
                        </a:rPr>
                        <a:t>Parallel Feature Extraction</a:t>
                      </a:r>
                    </a:p>
                  </a:txBody>
                  <a:tcPr/>
                </a:tc>
                <a:tc>
                  <a:txBody>
                    <a:bodyPr/>
                    <a:lstStyle/>
                    <a:p>
                      <a:r>
                        <a:rPr lang="en-US" sz="1400" dirty="0">
                          <a:latin typeface="Inter" panose="02000503000000020004"/>
                        </a:rPr>
                        <a:t>PDSCNN: Local Features • </a:t>
                      </a:r>
                      <a:r>
                        <a:rPr lang="en-US" sz="1400" dirty="0" err="1">
                          <a:latin typeface="Inter" panose="02000503000000020004"/>
                        </a:rPr>
                        <a:t>ViT</a:t>
                      </a:r>
                      <a:r>
                        <a:rPr lang="en-US" sz="1400" dirty="0">
                          <a:latin typeface="Inter" panose="02000503000000020004"/>
                        </a:rPr>
                        <a:t>: Global Features</a:t>
                      </a:r>
                      <a:endParaRPr lang="en-IN" sz="1400" dirty="0">
                        <a:latin typeface="Inter" panose="02000503000000020004"/>
                      </a:endParaRPr>
                    </a:p>
                  </a:txBody>
                  <a:tcPr/>
                </a:tc>
                <a:extLst>
                  <a:ext uri="{0D108BD9-81ED-4DB2-BD59-A6C34878D82A}">
                    <a16:rowId xmlns:a16="http://schemas.microsoft.com/office/drawing/2014/main" val="1303246356"/>
                  </a:ext>
                </a:extLst>
              </a:tr>
              <a:tr h="370840">
                <a:tc>
                  <a:txBody>
                    <a:bodyPr/>
                    <a:lstStyle/>
                    <a:p>
                      <a:pPr algn="l"/>
                      <a:r>
                        <a:rPr lang="en-IN" sz="1400" dirty="0">
                          <a:latin typeface="Inter" panose="02000503000000020004"/>
                        </a:rPr>
                        <a:t>                      5</a:t>
                      </a:r>
                    </a:p>
                  </a:txBody>
                  <a:tcPr/>
                </a:tc>
                <a:tc>
                  <a:txBody>
                    <a:bodyPr/>
                    <a:lstStyle/>
                    <a:p>
                      <a:r>
                        <a:rPr lang="en-IN" sz="1400" dirty="0">
                          <a:latin typeface="Inter" panose="02000503000000020004"/>
                        </a:rPr>
                        <a:t>Feature Fusion</a:t>
                      </a:r>
                    </a:p>
                  </a:txBody>
                  <a:tcPr/>
                </a:tc>
                <a:tc>
                  <a:txBody>
                    <a:bodyPr/>
                    <a:lstStyle/>
                    <a:p>
                      <a:r>
                        <a:rPr lang="en-US" sz="1400" dirty="0">
                          <a:latin typeface="Inter" panose="02000503000000020004"/>
                        </a:rPr>
                        <a:t>Concatenate Local + Global Features (512-D)</a:t>
                      </a:r>
                      <a:endParaRPr lang="en-IN" sz="1400" dirty="0">
                        <a:latin typeface="Inter" panose="02000503000000020004"/>
                      </a:endParaRPr>
                    </a:p>
                  </a:txBody>
                  <a:tcPr/>
                </a:tc>
                <a:extLst>
                  <a:ext uri="{0D108BD9-81ED-4DB2-BD59-A6C34878D82A}">
                    <a16:rowId xmlns:a16="http://schemas.microsoft.com/office/drawing/2014/main" val="102053807"/>
                  </a:ext>
                </a:extLst>
              </a:tr>
              <a:tr h="370840">
                <a:tc>
                  <a:txBody>
                    <a:bodyPr/>
                    <a:lstStyle/>
                    <a:p>
                      <a:pPr algn="l"/>
                      <a:r>
                        <a:rPr lang="en-IN" sz="1400" dirty="0">
                          <a:latin typeface="Inter" panose="02000503000000020004"/>
                        </a:rPr>
                        <a:t>                      6</a:t>
                      </a:r>
                    </a:p>
                  </a:txBody>
                  <a:tcPr/>
                </a:tc>
                <a:tc>
                  <a:txBody>
                    <a:bodyPr/>
                    <a:lstStyle/>
                    <a:p>
                      <a:r>
                        <a:rPr lang="en-IN" sz="1400" dirty="0">
                          <a:latin typeface="Inter" panose="02000503000000020004"/>
                        </a:rPr>
                        <a:t>Data Split &amp; Validation</a:t>
                      </a:r>
                    </a:p>
                  </a:txBody>
                  <a:tcPr/>
                </a:tc>
                <a:tc>
                  <a:txBody>
                    <a:bodyPr/>
                    <a:lstStyle/>
                    <a:p>
                      <a:r>
                        <a:rPr lang="en-US" sz="1400" dirty="0">
                          <a:latin typeface="Inter" panose="02000503000000020004"/>
                        </a:rPr>
                        <a:t>80% Training • 20% Testing • 5-Fold Cross Validation</a:t>
                      </a:r>
                      <a:endParaRPr lang="en-IN" sz="1400" dirty="0">
                        <a:latin typeface="Inter" panose="02000503000000020004"/>
                      </a:endParaRPr>
                    </a:p>
                  </a:txBody>
                  <a:tcPr/>
                </a:tc>
                <a:extLst>
                  <a:ext uri="{0D108BD9-81ED-4DB2-BD59-A6C34878D82A}">
                    <a16:rowId xmlns:a16="http://schemas.microsoft.com/office/drawing/2014/main" val="1010369458"/>
                  </a:ext>
                </a:extLst>
              </a:tr>
              <a:tr h="370840">
                <a:tc>
                  <a:txBody>
                    <a:bodyPr/>
                    <a:lstStyle/>
                    <a:p>
                      <a:pPr algn="l"/>
                      <a:r>
                        <a:rPr lang="en-IN" sz="1400" dirty="0">
                          <a:latin typeface="Inter" panose="02000503000000020004"/>
                        </a:rPr>
                        <a:t>                      7</a:t>
                      </a:r>
                    </a:p>
                  </a:txBody>
                  <a:tcPr/>
                </a:tc>
                <a:tc>
                  <a:txBody>
                    <a:bodyPr/>
                    <a:lstStyle/>
                    <a:p>
                      <a:r>
                        <a:rPr lang="en-IN" sz="1400" dirty="0">
                          <a:latin typeface="Inter" panose="02000503000000020004"/>
                        </a:rPr>
                        <a:t>Classifier (RRELM)</a:t>
                      </a:r>
                    </a:p>
                  </a:txBody>
                  <a:tcPr/>
                </a:tc>
                <a:tc>
                  <a:txBody>
                    <a:bodyPr/>
                    <a:lstStyle/>
                    <a:p>
                      <a:r>
                        <a:rPr lang="en-IN" sz="1400" dirty="0">
                          <a:latin typeface="Inter" panose="02000503000000020004"/>
                        </a:rPr>
                        <a:t>Classifies Fused Features</a:t>
                      </a:r>
                    </a:p>
                  </a:txBody>
                  <a:tcPr/>
                </a:tc>
                <a:extLst>
                  <a:ext uri="{0D108BD9-81ED-4DB2-BD59-A6C34878D82A}">
                    <a16:rowId xmlns:a16="http://schemas.microsoft.com/office/drawing/2014/main" val="3109889536"/>
                  </a:ext>
                </a:extLst>
              </a:tr>
              <a:tr h="370840">
                <a:tc>
                  <a:txBody>
                    <a:bodyPr/>
                    <a:lstStyle/>
                    <a:p>
                      <a:pPr algn="l"/>
                      <a:r>
                        <a:rPr lang="en-IN" sz="1400" dirty="0">
                          <a:latin typeface="Inter" panose="02000503000000020004"/>
                        </a:rPr>
                        <a:t>                      8</a:t>
                      </a:r>
                    </a:p>
                  </a:txBody>
                  <a:tcPr/>
                </a:tc>
                <a:tc>
                  <a:txBody>
                    <a:bodyPr/>
                    <a:lstStyle/>
                    <a:p>
                      <a:r>
                        <a:rPr lang="en-IN" sz="1400" dirty="0">
                          <a:latin typeface="Inter" panose="02000503000000020004"/>
                        </a:rPr>
                        <a:t>Saved Model</a:t>
                      </a:r>
                    </a:p>
                  </a:txBody>
                  <a:tcPr/>
                </a:tc>
                <a:tc>
                  <a:txBody>
                    <a:bodyPr/>
                    <a:lstStyle/>
                    <a:p>
                      <a:r>
                        <a:rPr lang="en-IN" sz="1400" dirty="0">
                          <a:latin typeface="Inter" panose="02000503000000020004"/>
                        </a:rPr>
                        <a:t>PDSCNN + </a:t>
                      </a:r>
                      <a:r>
                        <a:rPr lang="en-IN" sz="1400" dirty="0" err="1">
                          <a:latin typeface="Inter" panose="02000503000000020004"/>
                        </a:rPr>
                        <a:t>ViT</a:t>
                      </a:r>
                      <a:r>
                        <a:rPr lang="en-IN" sz="1400" dirty="0">
                          <a:latin typeface="Inter" panose="02000503000000020004"/>
                        </a:rPr>
                        <a:t> + RRELM Model</a:t>
                      </a:r>
                    </a:p>
                  </a:txBody>
                  <a:tcPr/>
                </a:tc>
                <a:extLst>
                  <a:ext uri="{0D108BD9-81ED-4DB2-BD59-A6C34878D82A}">
                    <a16:rowId xmlns:a16="http://schemas.microsoft.com/office/drawing/2014/main" val="3115302231"/>
                  </a:ext>
                </a:extLst>
              </a:tr>
              <a:tr h="370840">
                <a:tc>
                  <a:txBody>
                    <a:bodyPr/>
                    <a:lstStyle/>
                    <a:p>
                      <a:pPr algn="l"/>
                      <a:r>
                        <a:rPr lang="en-IN" sz="1400" dirty="0">
                          <a:latin typeface="Inter" panose="02000503000000020004"/>
                        </a:rPr>
                        <a:t>                      9</a:t>
                      </a:r>
                    </a:p>
                  </a:txBody>
                  <a:tcPr/>
                </a:tc>
                <a:tc>
                  <a:txBody>
                    <a:bodyPr/>
                    <a:lstStyle/>
                    <a:p>
                      <a:r>
                        <a:rPr lang="en-IN" sz="1400" dirty="0">
                          <a:latin typeface="Inter" panose="02000503000000020004"/>
                        </a:rPr>
                        <a:t>Classification Output</a:t>
                      </a:r>
                    </a:p>
                  </a:txBody>
                  <a:tcPr/>
                </a:tc>
                <a:tc>
                  <a:txBody>
                    <a:bodyPr/>
                    <a:lstStyle/>
                    <a:p>
                      <a:r>
                        <a:rPr lang="en-IN" sz="1400" dirty="0">
                          <a:latin typeface="Inter" panose="02000503000000020004"/>
                        </a:rPr>
                        <a:t>Glioma • Meningioma • Pituitary • No </a:t>
                      </a:r>
                      <a:r>
                        <a:rPr lang="en-IN" sz="1400" dirty="0" err="1">
                          <a:latin typeface="Inter" panose="02000503000000020004"/>
                        </a:rPr>
                        <a:t>Tumor</a:t>
                      </a:r>
                      <a:endParaRPr lang="en-IN" sz="1400" dirty="0">
                        <a:latin typeface="Inter" panose="02000503000000020004"/>
                      </a:endParaRPr>
                    </a:p>
                  </a:txBody>
                  <a:tcPr/>
                </a:tc>
                <a:extLst>
                  <a:ext uri="{0D108BD9-81ED-4DB2-BD59-A6C34878D82A}">
                    <a16:rowId xmlns:a16="http://schemas.microsoft.com/office/drawing/2014/main" val="3932246004"/>
                  </a:ext>
                </a:extLst>
              </a:tr>
              <a:tr h="370840">
                <a:tc>
                  <a:txBody>
                    <a:bodyPr/>
                    <a:lstStyle/>
                    <a:p>
                      <a:pPr algn="l"/>
                      <a:r>
                        <a:rPr lang="en-IN" sz="1400" dirty="0">
                          <a:latin typeface="Inter" panose="02000503000000020004"/>
                        </a:rPr>
                        <a:t>                     10</a:t>
                      </a:r>
                    </a:p>
                  </a:txBody>
                  <a:tcPr/>
                </a:tc>
                <a:tc>
                  <a:txBody>
                    <a:bodyPr/>
                    <a:lstStyle/>
                    <a:p>
                      <a:r>
                        <a:rPr lang="en-IN" sz="1400" dirty="0">
                          <a:latin typeface="Inter" panose="02000503000000020004"/>
                        </a:rPr>
                        <a:t>Explainable AI</a:t>
                      </a:r>
                    </a:p>
                  </a:txBody>
                  <a:tcPr/>
                </a:tc>
                <a:tc>
                  <a:txBody>
                    <a:bodyPr/>
                    <a:lstStyle/>
                    <a:p>
                      <a:r>
                        <a:rPr lang="en-IN" sz="1400" dirty="0">
                          <a:latin typeface="Inter" panose="02000503000000020004"/>
                        </a:rPr>
                        <a:t>Grad-CAM • </a:t>
                      </a:r>
                      <a:r>
                        <a:rPr lang="en-IN" sz="1400" dirty="0" err="1">
                          <a:latin typeface="Inter" panose="02000503000000020004"/>
                        </a:rPr>
                        <a:t>ViT</a:t>
                      </a:r>
                      <a:r>
                        <a:rPr lang="en-IN" sz="1400" dirty="0">
                          <a:latin typeface="Inter" panose="02000503000000020004"/>
                        </a:rPr>
                        <a:t> Attention Map</a:t>
                      </a:r>
                    </a:p>
                  </a:txBody>
                  <a:tcPr/>
                </a:tc>
                <a:extLst>
                  <a:ext uri="{0D108BD9-81ED-4DB2-BD59-A6C34878D82A}">
                    <a16:rowId xmlns:a16="http://schemas.microsoft.com/office/drawing/2014/main" val="2546539242"/>
                  </a:ext>
                </a:extLst>
              </a:tr>
            </a:tbl>
          </a:graphicData>
        </a:graphic>
      </p:graphicFrame>
    </p:spTree>
    <p:extLst>
      <p:ext uri="{BB962C8B-B14F-4D97-AF65-F5344CB8AC3E}">
        <p14:creationId xmlns:p14="http://schemas.microsoft.com/office/powerpoint/2010/main" val="3103906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723E81-E499-3FC9-E5C8-5D5BF20A19E5}"/>
              </a:ext>
            </a:extLst>
          </p:cNvPr>
          <p:cNvSpPr txBox="1"/>
          <p:nvPr/>
        </p:nvSpPr>
        <p:spPr>
          <a:xfrm>
            <a:off x="3220278" y="2544418"/>
            <a:ext cx="7136295" cy="1323439"/>
          </a:xfrm>
          <a:prstGeom prst="rect">
            <a:avLst/>
          </a:prstGeom>
          <a:noFill/>
        </p:spPr>
        <p:txBody>
          <a:bodyPr wrap="square" rtlCol="0">
            <a:spAutoFit/>
          </a:bodyPr>
          <a:lstStyle/>
          <a:p>
            <a:r>
              <a:rPr lang="en-IN" sz="8000" dirty="0">
                <a:latin typeface="Inter" panose="02000503000000020004"/>
              </a:rPr>
              <a:t>THANK YOU!</a:t>
            </a:r>
          </a:p>
        </p:txBody>
      </p:sp>
    </p:spTree>
    <p:extLst>
      <p:ext uri="{BB962C8B-B14F-4D97-AF65-F5344CB8AC3E}">
        <p14:creationId xmlns:p14="http://schemas.microsoft.com/office/powerpoint/2010/main" val="510896036"/>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2468</TotalTime>
  <Words>1059</Words>
  <Application>Microsoft Office PowerPoint</Application>
  <PresentationFormat>Widescreen</PresentationFormat>
  <Paragraphs>124</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Inter</vt:lpstr>
      <vt:lpstr>Times New Roman</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System</vt:lpstr>
      <vt:lpstr>Advantages of Proposed System</vt:lpstr>
      <vt:lpstr>Disadvantages of Proposed System</vt:lpstr>
      <vt:lpstr>Architecture diagram</vt:lpstr>
      <vt:lpstr>Architecture Diagram Explanation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(21DM601PC)    COMPUTER NETWORKS</dc:title>
  <dc:creator>Arshiya Begum</dc:creator>
  <cp:lastModifiedBy>Dedeepya Alahari</cp:lastModifiedBy>
  <cp:revision>61</cp:revision>
  <dcterms:created xsi:type="dcterms:W3CDTF">2024-05-06T05:52:36Z</dcterms:created>
  <dcterms:modified xsi:type="dcterms:W3CDTF">2026-08-04T12:50:39Z</dcterms:modified>
</cp:coreProperties>
</file>